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6"/>
  </p:notesMasterIdLst>
  <p:handoutMasterIdLst>
    <p:handoutMasterId r:id="rId27"/>
  </p:handoutMasterIdLst>
  <p:sldIdLst>
    <p:sldId id="256" r:id="rId2"/>
    <p:sldId id="325" r:id="rId3"/>
    <p:sldId id="274" r:id="rId4"/>
    <p:sldId id="271" r:id="rId5"/>
    <p:sldId id="297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26" r:id="rId16"/>
    <p:sldId id="327" r:id="rId17"/>
    <p:sldId id="328" r:id="rId18"/>
    <p:sldId id="329" r:id="rId19"/>
    <p:sldId id="330" r:id="rId20"/>
    <p:sldId id="332" r:id="rId21"/>
    <p:sldId id="333" r:id="rId22"/>
    <p:sldId id="334" r:id="rId23"/>
    <p:sldId id="335" r:id="rId24"/>
    <p:sldId id="336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15" autoAdjust="0"/>
    <p:restoredTop sz="91823" autoAdjust="0"/>
  </p:normalViewPr>
  <p:slideViewPr>
    <p:cSldViewPr snapToGrid="0" snapToObjects="1">
      <p:cViewPr>
        <p:scale>
          <a:sx n="121" d="100"/>
          <a:sy n="121" d="100"/>
        </p:scale>
        <p:origin x="-1304" y="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interSettings" Target="printerSettings/printerSettings1.bin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2AEC54-1EA1-1943-A0D2-8F85B30BD61E}" type="doc">
      <dgm:prSet loTypeId="urn:microsoft.com/office/officeart/2005/8/layout/process1" loCatId="" qsTypeId="urn:microsoft.com/office/officeart/2005/8/quickstyle/simple4" qsCatId="simple" csTypeId="urn:microsoft.com/office/officeart/2005/8/colors/colorful1" csCatId="colorful" phldr="1"/>
      <dgm:spPr/>
    </dgm:pt>
    <dgm:pt modelId="{ACCB4D7E-D73F-9C4F-9460-0B45D26B8296}">
      <dgm:prSet phldrT="[Text]"/>
      <dgm:spPr/>
      <dgm:t>
        <a:bodyPr/>
        <a:lstStyle/>
        <a:p>
          <a:r>
            <a:rPr lang="de-DE" dirty="0" err="1" smtClean="0"/>
            <a:t>Planning</a:t>
          </a:r>
          <a:endParaRPr lang="de-DE" dirty="0"/>
        </a:p>
      </dgm:t>
    </dgm:pt>
    <dgm:pt modelId="{D59FAFC9-1B6D-BF43-96BE-10A112C15B77}" type="parTrans" cxnId="{A2E540E6-3313-E343-9FB7-FE7FEE450357}">
      <dgm:prSet/>
      <dgm:spPr/>
      <dgm:t>
        <a:bodyPr/>
        <a:lstStyle/>
        <a:p>
          <a:endParaRPr lang="de-DE"/>
        </a:p>
      </dgm:t>
    </dgm:pt>
    <dgm:pt modelId="{CBED9C06-930A-784F-9E34-A721C9724E66}" type="sibTrans" cxnId="{A2E540E6-3313-E343-9FB7-FE7FEE450357}">
      <dgm:prSet/>
      <dgm:spPr/>
      <dgm:t>
        <a:bodyPr/>
        <a:lstStyle/>
        <a:p>
          <a:endParaRPr lang="de-DE"/>
        </a:p>
      </dgm:t>
    </dgm:pt>
    <dgm:pt modelId="{40183D51-511A-A44D-8397-DB74724D334C}">
      <dgm:prSet phldrT="[Text]"/>
      <dgm:spPr/>
      <dgm:t>
        <a:bodyPr/>
        <a:lstStyle/>
        <a:p>
          <a:r>
            <a:rPr lang="de-DE" dirty="0" smtClean="0"/>
            <a:t>Migration</a:t>
          </a:r>
          <a:endParaRPr lang="de-DE" dirty="0"/>
        </a:p>
      </dgm:t>
    </dgm:pt>
    <dgm:pt modelId="{7B64CC4D-A98E-1E4E-B123-12ECA7745ACF}" type="parTrans" cxnId="{A68982F0-8BDA-5147-91B9-B3C7ACE00857}">
      <dgm:prSet/>
      <dgm:spPr/>
      <dgm:t>
        <a:bodyPr/>
        <a:lstStyle/>
        <a:p>
          <a:endParaRPr lang="de-DE"/>
        </a:p>
      </dgm:t>
    </dgm:pt>
    <dgm:pt modelId="{D976B586-93BC-8640-A9BB-AAE6E6E31708}" type="sibTrans" cxnId="{A68982F0-8BDA-5147-91B9-B3C7ACE00857}">
      <dgm:prSet/>
      <dgm:spPr/>
      <dgm:t>
        <a:bodyPr/>
        <a:lstStyle/>
        <a:p>
          <a:endParaRPr lang="de-DE"/>
        </a:p>
      </dgm:t>
    </dgm:pt>
    <dgm:pt modelId="{730B15E3-C9F5-944D-B67D-084E7D70AD80}">
      <dgm:prSet phldrT="[Text]"/>
      <dgm:spPr/>
      <dgm:t>
        <a:bodyPr/>
        <a:lstStyle/>
        <a:p>
          <a:r>
            <a:rPr lang="de-DE" dirty="0" smtClean="0"/>
            <a:t>Operation</a:t>
          </a:r>
          <a:endParaRPr lang="de-DE" dirty="0"/>
        </a:p>
      </dgm:t>
    </dgm:pt>
    <dgm:pt modelId="{3D1F1EC3-4D2D-AF48-9D39-2C1A2D1F690B}" type="parTrans" cxnId="{AA105ABF-D41A-C047-B6D8-CBCB766D9AB6}">
      <dgm:prSet/>
      <dgm:spPr/>
      <dgm:t>
        <a:bodyPr/>
        <a:lstStyle/>
        <a:p>
          <a:endParaRPr lang="de-DE"/>
        </a:p>
      </dgm:t>
    </dgm:pt>
    <dgm:pt modelId="{B2A4CB43-90DB-1646-9E80-3D091B13871E}" type="sibTrans" cxnId="{AA105ABF-D41A-C047-B6D8-CBCB766D9AB6}">
      <dgm:prSet/>
      <dgm:spPr/>
      <dgm:t>
        <a:bodyPr/>
        <a:lstStyle/>
        <a:p>
          <a:endParaRPr lang="de-DE"/>
        </a:p>
      </dgm:t>
    </dgm:pt>
    <dgm:pt modelId="{2FCC9185-9A04-BA4B-BF73-06AE53593274}">
      <dgm:prSet phldrT="[Text]"/>
      <dgm:spPr/>
      <dgm:t>
        <a:bodyPr/>
        <a:lstStyle/>
        <a:p>
          <a:r>
            <a:rPr lang="de-DE" dirty="0" err="1" smtClean="0"/>
            <a:t>Negotiation</a:t>
          </a:r>
          <a:endParaRPr lang="de-DE" dirty="0"/>
        </a:p>
      </dgm:t>
    </dgm:pt>
    <dgm:pt modelId="{24B3878C-079C-B84B-81C7-757F32EF465D}" type="parTrans" cxnId="{8EEEE173-9B21-5546-A4A6-D07E01159698}">
      <dgm:prSet/>
      <dgm:spPr/>
      <dgm:t>
        <a:bodyPr/>
        <a:lstStyle/>
        <a:p>
          <a:endParaRPr lang="de-DE"/>
        </a:p>
      </dgm:t>
    </dgm:pt>
    <dgm:pt modelId="{7092C094-2BFE-3442-BE2E-2975E2D5FE9C}" type="sibTrans" cxnId="{8EEEE173-9B21-5546-A4A6-D07E01159698}">
      <dgm:prSet/>
      <dgm:spPr/>
      <dgm:t>
        <a:bodyPr/>
        <a:lstStyle/>
        <a:p>
          <a:endParaRPr lang="de-DE"/>
        </a:p>
      </dgm:t>
    </dgm:pt>
    <dgm:pt modelId="{45F64FAF-0E58-9645-A680-F15D7EB2ED00}" type="pres">
      <dgm:prSet presAssocID="{142AEC54-1EA1-1943-A0D2-8F85B30BD61E}" presName="Name0" presStyleCnt="0">
        <dgm:presLayoutVars>
          <dgm:dir/>
          <dgm:resizeHandles val="exact"/>
        </dgm:presLayoutVars>
      </dgm:prSet>
      <dgm:spPr/>
    </dgm:pt>
    <dgm:pt modelId="{EA912797-D24A-5143-BA4E-9DED50F7DAAB}" type="pres">
      <dgm:prSet presAssocID="{ACCB4D7E-D73F-9C4F-9460-0B45D26B8296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68D213C-2953-6348-9D1A-62352F23101D}" type="pres">
      <dgm:prSet presAssocID="{CBED9C06-930A-784F-9E34-A721C9724E66}" presName="sibTrans" presStyleLbl="sibTrans2D1" presStyleIdx="0" presStyleCnt="3"/>
      <dgm:spPr/>
      <dgm:t>
        <a:bodyPr/>
        <a:lstStyle/>
        <a:p>
          <a:endParaRPr lang="en-US"/>
        </a:p>
      </dgm:t>
    </dgm:pt>
    <dgm:pt modelId="{AB7BBA91-CCEB-614F-AD90-5143C70C1A4B}" type="pres">
      <dgm:prSet presAssocID="{CBED9C06-930A-784F-9E34-A721C9724E66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03BC963A-70B9-2443-AE66-920B102770BE}" type="pres">
      <dgm:prSet presAssocID="{2FCC9185-9A04-BA4B-BF73-06AE5359327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A2A65B3-E932-B74D-947B-5BFAC628CC05}" type="pres">
      <dgm:prSet presAssocID="{7092C094-2BFE-3442-BE2E-2975E2D5FE9C}" presName="sibTrans" presStyleLbl="sibTrans2D1" presStyleIdx="1" presStyleCnt="3"/>
      <dgm:spPr/>
      <dgm:t>
        <a:bodyPr/>
        <a:lstStyle/>
        <a:p>
          <a:endParaRPr lang="en-US"/>
        </a:p>
      </dgm:t>
    </dgm:pt>
    <dgm:pt modelId="{B826944C-E47F-5447-A4ED-68894998F974}" type="pres">
      <dgm:prSet presAssocID="{7092C094-2BFE-3442-BE2E-2975E2D5FE9C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B51B8A00-403F-0946-96D1-59E64F9C037F}" type="pres">
      <dgm:prSet presAssocID="{40183D51-511A-A44D-8397-DB74724D334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01BBD2-B46D-664B-9D03-2D304249EDC3}" type="pres">
      <dgm:prSet presAssocID="{D976B586-93BC-8640-A9BB-AAE6E6E31708}" presName="sibTrans" presStyleLbl="sibTrans2D1" presStyleIdx="2" presStyleCnt="3"/>
      <dgm:spPr/>
      <dgm:t>
        <a:bodyPr/>
        <a:lstStyle/>
        <a:p>
          <a:endParaRPr lang="en-US"/>
        </a:p>
      </dgm:t>
    </dgm:pt>
    <dgm:pt modelId="{F88CB7BC-5026-E249-80A0-A9768E11196D}" type="pres">
      <dgm:prSet presAssocID="{D976B586-93BC-8640-A9BB-AAE6E6E31708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0DDAA33F-5F99-BD46-B91E-204693F133AA}" type="pres">
      <dgm:prSet presAssocID="{730B15E3-C9F5-944D-B67D-084E7D70AD80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D33CDDC-107C-FB42-A314-D6A5565E534F}" type="presOf" srcId="{D976B586-93BC-8640-A9BB-AAE6E6E31708}" destId="{0B01BBD2-B46D-664B-9D03-2D304249EDC3}" srcOrd="0" destOrd="0" presId="urn:microsoft.com/office/officeart/2005/8/layout/process1"/>
    <dgm:cxn modelId="{5C6F0DC1-CD03-6546-9A24-D2D96AF76AE4}" type="presOf" srcId="{7092C094-2BFE-3442-BE2E-2975E2D5FE9C}" destId="{5A2A65B3-E932-B74D-947B-5BFAC628CC05}" srcOrd="0" destOrd="0" presId="urn:microsoft.com/office/officeart/2005/8/layout/process1"/>
    <dgm:cxn modelId="{AA105ABF-D41A-C047-B6D8-CBCB766D9AB6}" srcId="{142AEC54-1EA1-1943-A0D2-8F85B30BD61E}" destId="{730B15E3-C9F5-944D-B67D-084E7D70AD80}" srcOrd="3" destOrd="0" parTransId="{3D1F1EC3-4D2D-AF48-9D39-2C1A2D1F690B}" sibTransId="{B2A4CB43-90DB-1646-9E80-3D091B13871E}"/>
    <dgm:cxn modelId="{491E534F-ABBF-484A-A746-9DC1437FA508}" type="presOf" srcId="{7092C094-2BFE-3442-BE2E-2975E2D5FE9C}" destId="{B826944C-E47F-5447-A4ED-68894998F974}" srcOrd="1" destOrd="0" presId="urn:microsoft.com/office/officeart/2005/8/layout/process1"/>
    <dgm:cxn modelId="{2CC32656-D654-B046-8343-ECD507E36069}" type="presOf" srcId="{2FCC9185-9A04-BA4B-BF73-06AE53593274}" destId="{03BC963A-70B9-2443-AE66-920B102770BE}" srcOrd="0" destOrd="0" presId="urn:microsoft.com/office/officeart/2005/8/layout/process1"/>
    <dgm:cxn modelId="{B83E2899-752D-F44E-889D-762E98F097DD}" type="presOf" srcId="{CBED9C06-930A-784F-9E34-A721C9724E66}" destId="{AB7BBA91-CCEB-614F-AD90-5143C70C1A4B}" srcOrd="1" destOrd="0" presId="urn:microsoft.com/office/officeart/2005/8/layout/process1"/>
    <dgm:cxn modelId="{AF6B0D16-B39B-BF40-8F58-9982F67A97B4}" type="presOf" srcId="{730B15E3-C9F5-944D-B67D-084E7D70AD80}" destId="{0DDAA33F-5F99-BD46-B91E-204693F133AA}" srcOrd="0" destOrd="0" presId="urn:microsoft.com/office/officeart/2005/8/layout/process1"/>
    <dgm:cxn modelId="{A68982F0-8BDA-5147-91B9-B3C7ACE00857}" srcId="{142AEC54-1EA1-1943-A0D2-8F85B30BD61E}" destId="{40183D51-511A-A44D-8397-DB74724D334C}" srcOrd="2" destOrd="0" parTransId="{7B64CC4D-A98E-1E4E-B123-12ECA7745ACF}" sibTransId="{D976B586-93BC-8640-A9BB-AAE6E6E31708}"/>
    <dgm:cxn modelId="{C229BAEA-8919-D04C-90B8-FBC258BD7B07}" type="presOf" srcId="{142AEC54-1EA1-1943-A0D2-8F85B30BD61E}" destId="{45F64FAF-0E58-9645-A680-F15D7EB2ED00}" srcOrd="0" destOrd="0" presId="urn:microsoft.com/office/officeart/2005/8/layout/process1"/>
    <dgm:cxn modelId="{A2E540E6-3313-E343-9FB7-FE7FEE450357}" srcId="{142AEC54-1EA1-1943-A0D2-8F85B30BD61E}" destId="{ACCB4D7E-D73F-9C4F-9460-0B45D26B8296}" srcOrd="0" destOrd="0" parTransId="{D59FAFC9-1B6D-BF43-96BE-10A112C15B77}" sibTransId="{CBED9C06-930A-784F-9E34-A721C9724E66}"/>
    <dgm:cxn modelId="{C27DE41A-7ABD-AE49-8A5B-737F98DF82FC}" type="presOf" srcId="{40183D51-511A-A44D-8397-DB74724D334C}" destId="{B51B8A00-403F-0946-96D1-59E64F9C037F}" srcOrd="0" destOrd="0" presId="urn:microsoft.com/office/officeart/2005/8/layout/process1"/>
    <dgm:cxn modelId="{5735511B-9D81-374D-9960-010A8F6D4618}" type="presOf" srcId="{ACCB4D7E-D73F-9C4F-9460-0B45D26B8296}" destId="{EA912797-D24A-5143-BA4E-9DED50F7DAAB}" srcOrd="0" destOrd="0" presId="urn:microsoft.com/office/officeart/2005/8/layout/process1"/>
    <dgm:cxn modelId="{6E0F80F8-E396-D34B-8958-00CD246BDB2D}" type="presOf" srcId="{D976B586-93BC-8640-A9BB-AAE6E6E31708}" destId="{F88CB7BC-5026-E249-80A0-A9768E11196D}" srcOrd="1" destOrd="0" presId="urn:microsoft.com/office/officeart/2005/8/layout/process1"/>
    <dgm:cxn modelId="{8EEEE173-9B21-5546-A4A6-D07E01159698}" srcId="{142AEC54-1EA1-1943-A0D2-8F85B30BD61E}" destId="{2FCC9185-9A04-BA4B-BF73-06AE53593274}" srcOrd="1" destOrd="0" parTransId="{24B3878C-079C-B84B-81C7-757F32EF465D}" sibTransId="{7092C094-2BFE-3442-BE2E-2975E2D5FE9C}"/>
    <dgm:cxn modelId="{46F5D75E-29F8-824D-875D-39D756309F22}" type="presOf" srcId="{CBED9C06-930A-784F-9E34-A721C9724E66}" destId="{E68D213C-2953-6348-9D1A-62352F23101D}" srcOrd="0" destOrd="0" presId="urn:microsoft.com/office/officeart/2005/8/layout/process1"/>
    <dgm:cxn modelId="{14575845-088C-374E-BC97-E2D1E146F298}" type="presParOf" srcId="{45F64FAF-0E58-9645-A680-F15D7EB2ED00}" destId="{EA912797-D24A-5143-BA4E-9DED50F7DAAB}" srcOrd="0" destOrd="0" presId="urn:microsoft.com/office/officeart/2005/8/layout/process1"/>
    <dgm:cxn modelId="{915D9065-5E87-F44B-8A98-3D3A74421E7A}" type="presParOf" srcId="{45F64FAF-0E58-9645-A680-F15D7EB2ED00}" destId="{E68D213C-2953-6348-9D1A-62352F23101D}" srcOrd="1" destOrd="0" presId="urn:microsoft.com/office/officeart/2005/8/layout/process1"/>
    <dgm:cxn modelId="{33CA204E-129D-2E43-B739-3A9CA2790340}" type="presParOf" srcId="{E68D213C-2953-6348-9D1A-62352F23101D}" destId="{AB7BBA91-CCEB-614F-AD90-5143C70C1A4B}" srcOrd="0" destOrd="0" presId="urn:microsoft.com/office/officeart/2005/8/layout/process1"/>
    <dgm:cxn modelId="{B40AFA0C-11EE-BE4D-9B1B-1CB892E4B94E}" type="presParOf" srcId="{45F64FAF-0E58-9645-A680-F15D7EB2ED00}" destId="{03BC963A-70B9-2443-AE66-920B102770BE}" srcOrd="2" destOrd="0" presId="urn:microsoft.com/office/officeart/2005/8/layout/process1"/>
    <dgm:cxn modelId="{458D259E-64D4-B64B-8752-874CB2C5C031}" type="presParOf" srcId="{45F64FAF-0E58-9645-A680-F15D7EB2ED00}" destId="{5A2A65B3-E932-B74D-947B-5BFAC628CC05}" srcOrd="3" destOrd="0" presId="urn:microsoft.com/office/officeart/2005/8/layout/process1"/>
    <dgm:cxn modelId="{7C43BA7D-5B03-4B49-BD22-8401D274CEB7}" type="presParOf" srcId="{5A2A65B3-E932-B74D-947B-5BFAC628CC05}" destId="{B826944C-E47F-5447-A4ED-68894998F974}" srcOrd="0" destOrd="0" presId="urn:microsoft.com/office/officeart/2005/8/layout/process1"/>
    <dgm:cxn modelId="{D06146ED-1E7F-AF49-A935-EC3411FAA6FE}" type="presParOf" srcId="{45F64FAF-0E58-9645-A680-F15D7EB2ED00}" destId="{B51B8A00-403F-0946-96D1-59E64F9C037F}" srcOrd="4" destOrd="0" presId="urn:microsoft.com/office/officeart/2005/8/layout/process1"/>
    <dgm:cxn modelId="{EEB159D9-507C-154E-B300-5764DCD255D6}" type="presParOf" srcId="{45F64FAF-0E58-9645-A680-F15D7EB2ED00}" destId="{0B01BBD2-B46D-664B-9D03-2D304249EDC3}" srcOrd="5" destOrd="0" presId="urn:microsoft.com/office/officeart/2005/8/layout/process1"/>
    <dgm:cxn modelId="{42929D26-DAF8-D343-80F9-D14D717B306B}" type="presParOf" srcId="{0B01BBD2-B46D-664B-9D03-2D304249EDC3}" destId="{F88CB7BC-5026-E249-80A0-A9768E11196D}" srcOrd="0" destOrd="0" presId="urn:microsoft.com/office/officeart/2005/8/layout/process1"/>
    <dgm:cxn modelId="{042EAD1A-068D-1641-AAB2-B4A9708BC40D}" type="presParOf" srcId="{45F64FAF-0E58-9645-A680-F15D7EB2ED00}" destId="{0DDAA33F-5F99-BD46-B91E-204693F133A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12797-D24A-5143-BA4E-9DED50F7DAAB}">
      <dsp:nvSpPr>
        <dsp:cNvPr id="0" name=""/>
        <dsp:cNvSpPr/>
      </dsp:nvSpPr>
      <dsp:spPr>
        <a:xfrm>
          <a:off x="3622" y="851315"/>
          <a:ext cx="1583763" cy="9502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prstMaterial="flat">
          <a:bevelT w="127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200" kern="1200" dirty="0" err="1" smtClean="0"/>
            <a:t>Planning</a:t>
          </a:r>
          <a:endParaRPr lang="de-DE" sz="2200" kern="1200" dirty="0"/>
        </a:p>
      </dsp:txBody>
      <dsp:txXfrm>
        <a:off x="31454" y="879147"/>
        <a:ext cx="1528099" cy="894593"/>
      </dsp:txXfrm>
    </dsp:sp>
    <dsp:sp modelId="{E68D213C-2953-6348-9D1A-62352F23101D}">
      <dsp:nvSpPr>
        <dsp:cNvPr id="0" name=""/>
        <dsp:cNvSpPr/>
      </dsp:nvSpPr>
      <dsp:spPr>
        <a:xfrm>
          <a:off x="1745761" y="1130057"/>
          <a:ext cx="335757" cy="3927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prstMaterial="flat">
          <a:bevelT w="127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1600" kern="1200"/>
        </a:p>
      </dsp:txBody>
      <dsp:txXfrm>
        <a:off x="1745761" y="1208612"/>
        <a:ext cx="235030" cy="235663"/>
      </dsp:txXfrm>
    </dsp:sp>
    <dsp:sp modelId="{03BC963A-70B9-2443-AE66-920B102770BE}">
      <dsp:nvSpPr>
        <dsp:cNvPr id="0" name=""/>
        <dsp:cNvSpPr/>
      </dsp:nvSpPr>
      <dsp:spPr>
        <a:xfrm>
          <a:off x="2220890" y="851315"/>
          <a:ext cx="1583763" cy="9502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prstMaterial="flat">
          <a:bevelT w="127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200" kern="1200" dirty="0" err="1" smtClean="0"/>
            <a:t>Negotiation</a:t>
          </a:r>
          <a:endParaRPr lang="de-DE" sz="2200" kern="1200" dirty="0"/>
        </a:p>
      </dsp:txBody>
      <dsp:txXfrm>
        <a:off x="2248722" y="879147"/>
        <a:ext cx="1528099" cy="894593"/>
      </dsp:txXfrm>
    </dsp:sp>
    <dsp:sp modelId="{5A2A65B3-E932-B74D-947B-5BFAC628CC05}">
      <dsp:nvSpPr>
        <dsp:cNvPr id="0" name=""/>
        <dsp:cNvSpPr/>
      </dsp:nvSpPr>
      <dsp:spPr>
        <a:xfrm>
          <a:off x="3963030" y="1130057"/>
          <a:ext cx="335757" cy="3927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prstMaterial="flat">
          <a:bevelT w="127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1600" kern="1200"/>
        </a:p>
      </dsp:txBody>
      <dsp:txXfrm>
        <a:off x="3963030" y="1208612"/>
        <a:ext cx="235030" cy="235663"/>
      </dsp:txXfrm>
    </dsp:sp>
    <dsp:sp modelId="{B51B8A00-403F-0946-96D1-59E64F9C037F}">
      <dsp:nvSpPr>
        <dsp:cNvPr id="0" name=""/>
        <dsp:cNvSpPr/>
      </dsp:nvSpPr>
      <dsp:spPr>
        <a:xfrm>
          <a:off x="4438159" y="851315"/>
          <a:ext cx="1583763" cy="9502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prstMaterial="flat">
          <a:bevelT w="127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200" kern="1200" dirty="0" smtClean="0"/>
            <a:t>Migration</a:t>
          </a:r>
          <a:endParaRPr lang="de-DE" sz="2200" kern="1200" dirty="0"/>
        </a:p>
      </dsp:txBody>
      <dsp:txXfrm>
        <a:off x="4465991" y="879147"/>
        <a:ext cx="1528099" cy="894593"/>
      </dsp:txXfrm>
    </dsp:sp>
    <dsp:sp modelId="{0B01BBD2-B46D-664B-9D03-2D304249EDC3}">
      <dsp:nvSpPr>
        <dsp:cNvPr id="0" name=""/>
        <dsp:cNvSpPr/>
      </dsp:nvSpPr>
      <dsp:spPr>
        <a:xfrm>
          <a:off x="6180298" y="1130057"/>
          <a:ext cx="335757" cy="3927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prstMaterial="flat">
          <a:bevelT w="127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1600" kern="1200"/>
        </a:p>
      </dsp:txBody>
      <dsp:txXfrm>
        <a:off x="6180298" y="1208612"/>
        <a:ext cx="235030" cy="235663"/>
      </dsp:txXfrm>
    </dsp:sp>
    <dsp:sp modelId="{0DDAA33F-5F99-BD46-B91E-204693F133AA}">
      <dsp:nvSpPr>
        <dsp:cNvPr id="0" name=""/>
        <dsp:cNvSpPr/>
      </dsp:nvSpPr>
      <dsp:spPr>
        <a:xfrm>
          <a:off x="6655427" y="851315"/>
          <a:ext cx="1583763" cy="9502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prstMaterial="flat">
          <a:bevelT w="127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200" kern="1200" dirty="0" smtClean="0"/>
            <a:t>Operation</a:t>
          </a:r>
          <a:endParaRPr lang="de-DE" sz="2200" kern="1200" dirty="0"/>
        </a:p>
      </dsp:txBody>
      <dsp:txXfrm>
        <a:off x="6683259" y="879147"/>
        <a:ext cx="1528099" cy="894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0E911-AC16-5B41-959E-88DE434710C4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C1BBA-CF0C-AF4C-9BFD-DF4142893C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359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15984-6A0F-3649-99ED-6EA2AC57FBD3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 smtClean="0"/>
              <a:t>Click to edit Master text styles</a:t>
            </a:r>
          </a:p>
          <a:p>
            <a:pPr lvl="1"/>
            <a:r>
              <a:rPr lang="de-CH" smtClean="0"/>
              <a:t>Second level</a:t>
            </a:r>
          </a:p>
          <a:p>
            <a:pPr lvl="2"/>
            <a:r>
              <a:rPr lang="de-CH" smtClean="0"/>
              <a:t>Third level</a:t>
            </a:r>
          </a:p>
          <a:p>
            <a:pPr lvl="3"/>
            <a:r>
              <a:rPr lang="de-CH" smtClean="0"/>
              <a:t>Fourth level</a:t>
            </a:r>
          </a:p>
          <a:p>
            <a:pPr lvl="4"/>
            <a:r>
              <a:rPr lang="de-CH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9ECF-0C29-9545-9DD6-48D9A1915E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096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20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78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Confidentiality:</a:t>
            </a:r>
            <a:r>
              <a:rPr lang="en-US" baseline="0" dirty="0" smtClean="0"/>
              <a:t> </a:t>
            </a:r>
          </a:p>
          <a:p>
            <a:r>
              <a:rPr lang="en-US" baseline="0" dirty="0" smtClean="0"/>
              <a:t>2 possibilities</a:t>
            </a:r>
          </a:p>
          <a:p>
            <a:pPr marL="228600" indent="-228600">
              <a:buAutoNum type="arabicParenR"/>
            </a:pPr>
            <a:r>
              <a:rPr lang="en-US" baseline="0" dirty="0" smtClean="0"/>
              <a:t>Everything in private clouds</a:t>
            </a:r>
          </a:p>
          <a:p>
            <a:pPr marL="228600" indent="-228600">
              <a:buAutoNum type="arabicParenR"/>
            </a:pPr>
            <a:r>
              <a:rPr lang="en-US" baseline="0" dirty="0" smtClean="0"/>
              <a:t>Encrypt data on external clouds client-side – no keys for the </a:t>
            </a:r>
            <a:r>
              <a:rPr lang="en-US" baseline="0" dirty="0" err="1" smtClean="0"/>
              <a:t>provide.r</a:t>
            </a:r>
            <a:r>
              <a:rPr lang="en-US" baseline="0" dirty="0" smtClean="0"/>
              <a:t>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2"/>
                </a:solidFill>
              </a:rPr>
              <a:t>Add internal validation (KMEANS/GMM)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2"/>
                </a:solidFill>
              </a:rPr>
              <a:t>Add internal validation (KMEANS/GMM)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2"/>
                </a:solidFill>
              </a:rPr>
              <a:t>Add internal validation (KMEANS/GMM)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2"/>
                </a:solidFill>
              </a:rPr>
              <a:t>Add internal validation (KMEANS/GMM)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2"/>
                </a:solidFill>
              </a:rPr>
              <a:t>Add internal validation (KMEANS/GMM)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2"/>
                </a:solidFill>
              </a:rPr>
              <a:t>Add internal validation (KMEANS/GMM)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2"/>
                </a:solidFill>
              </a:rPr>
              <a:t>Add internal validation (KMEANS/GMM)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2"/>
                </a:solidFill>
              </a:rPr>
              <a:t>Add internal validation (KMEANS/GMM)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2"/>
                </a:solidFill>
              </a:rPr>
              <a:t>Add internal validation (KMEANS/GMM)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charset="2"/>
              <a:buNone/>
            </a:pPr>
            <a:endParaRPr lang="en-US" b="1" dirty="0" smtClean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A9ECF-0C29-9545-9DD6-48D9A1915E3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7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5A8B6-60B0-AC46-B463-BBE3F8C3A811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39E9-9E2B-5640-B2B3-2B8FE11876D9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ABA1-B1FC-3048-BD06-BAE160035B36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0BF5-10B6-A54A-95D4-EEB9F51CEFDB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2B38-E0FC-514C-B33E-40AEC764CE07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5FD5-EF72-BF45-A5A7-7F79BC4BAE05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FBB8F-1182-F740-A389-21603FC990A8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EFE4-3B3A-754E-87F9-506161332B8B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9105-C8AA-C54F-820A-EE3F3C981F75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D69D-5327-8641-8995-1B2DEA1A4A12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2B40-A1CD-684C-BA43-6D76E4415CEA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© Ajita Gupta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45D99C0F-4C94-1F46-BF90-74EEB2889370}" type="datetime1">
              <a:rPr lang="en-US" smtClean="0"/>
              <a:pPr/>
              <a:t>12/13/11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© Ajita Gupta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microsoft.com/office/2007/relationships/hdphoto" Target="../media/hdphoto1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microsoft.com/office/2007/relationships/hdphoto" Target="../media/hdphoto2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microsoft.com/office/2007/relationships/hdphoto" Target="../media/hdphoto2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microsoft.com/office/2007/relationships/hdphoto" Target="../media/hdphoto2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microsoft.com/office/2007/relationships/hdphoto" Target="../media/hdphoto2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microsoft.com/office/2007/relationships/hdphoto" Target="../media/hdphoto2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microsoft.com/office/2007/relationships/hdphoto" Target="../media/hdphoto2.wdp"/><Relationship Id="rId5" Type="http://schemas.microsoft.com/office/2007/relationships/hdphoto" Target="../media/hdphoto3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microsoft.com/office/2007/relationships/hdphoto" Target="../media/hdphoto4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microsoft.com/office/2007/relationships/hdphoto" Target="../media/hdphoto5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microsoft.com/office/2007/relationships/hdphoto" Target="../media/hdphoto5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microsoft.com/office/2007/relationships/hdphoto" Target="../media/hdphoto5.wdp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14"/>
            <a:ext cx="7772400" cy="1495979"/>
          </a:xfrm>
        </p:spPr>
        <p:txBody>
          <a:bodyPr/>
          <a:lstStyle/>
          <a:p>
            <a:r>
              <a:rPr lang="en-US" b="1" dirty="0" smtClean="0"/>
              <a:t>Cloud Computing</a:t>
            </a:r>
            <a:br>
              <a:rPr lang="en-US" b="1" dirty="0" smtClean="0"/>
            </a:br>
            <a:r>
              <a:rPr lang="en-US" b="1" dirty="0" smtClean="0"/>
              <a:t>Security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19782"/>
            <a:ext cx="6400800" cy="2582333"/>
          </a:xfrm>
        </p:spPr>
        <p:txBody>
          <a:bodyPr>
            <a:normAutofit lnSpcReduction="10000"/>
          </a:bodyPr>
          <a:lstStyle/>
          <a:p>
            <a:r>
              <a:rPr lang="en-US" sz="2500" b="1" dirty="0" smtClean="0"/>
              <a:t>Case Study</a:t>
            </a:r>
            <a:endParaRPr lang="en-US" sz="2500" b="1" dirty="0"/>
          </a:p>
          <a:p>
            <a:r>
              <a:rPr lang="en-US" sz="2100" dirty="0" smtClean="0"/>
              <a:t>Liu </a:t>
            </a:r>
            <a:r>
              <a:rPr lang="en-US" sz="2100" dirty="0" err="1" smtClean="0"/>
              <a:t>Qian</a:t>
            </a:r>
            <a:endParaRPr lang="en-US" sz="2100" dirty="0" smtClean="0"/>
          </a:p>
          <a:p>
            <a:r>
              <a:rPr lang="en-US" sz="2100" dirty="0" smtClean="0"/>
              <a:t>Michel Müller</a:t>
            </a:r>
          </a:p>
          <a:p>
            <a:r>
              <a:rPr lang="en-US" sz="2100" dirty="0" err="1" smtClean="0"/>
              <a:t>Saumya</a:t>
            </a:r>
            <a:r>
              <a:rPr lang="en-US" sz="2100" dirty="0" smtClean="0"/>
              <a:t> Gupta</a:t>
            </a:r>
          </a:p>
          <a:p>
            <a:r>
              <a:rPr lang="en-US" sz="2100" dirty="0" smtClean="0"/>
              <a:t>Ajita Gupta</a:t>
            </a:r>
          </a:p>
          <a:p>
            <a:endParaRPr lang="en-US" sz="1600" dirty="0"/>
          </a:p>
          <a:p>
            <a:pPr>
              <a:lnSpc>
                <a:spcPct val="80000"/>
              </a:lnSpc>
            </a:pPr>
            <a:r>
              <a:rPr lang="hr-HR" dirty="0"/>
              <a:t> </a:t>
            </a:r>
            <a:r>
              <a:rPr lang="hr-HR" sz="1900" b="1" dirty="0" smtClean="0"/>
              <a:t>Advisor:  </a:t>
            </a:r>
            <a:r>
              <a:rPr lang="hr-HR" sz="1900" dirty="0" smtClean="0"/>
              <a:t>Dr. Christian Slamka</a:t>
            </a:r>
            <a:endParaRPr lang="hr-HR" sz="1900" dirty="0"/>
          </a:p>
        </p:txBody>
      </p:sp>
      <p:sp>
        <p:nvSpPr>
          <p:cNvPr id="6" name="TextBox 5"/>
          <p:cNvSpPr txBox="1"/>
          <p:nvPr/>
        </p:nvSpPr>
        <p:spPr>
          <a:xfrm>
            <a:off x="218483" y="6322059"/>
            <a:ext cx="8753118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solidFill>
                  <a:srgbClr val="FFFFFF"/>
                </a:solidFill>
              </a:rPr>
              <a:t>Friday, 13</a:t>
            </a:r>
            <a:r>
              <a:rPr lang="en-US" sz="1100" b="1" baseline="30000" dirty="0" smtClean="0">
                <a:solidFill>
                  <a:srgbClr val="FFFFFF"/>
                </a:solidFill>
              </a:rPr>
              <a:t>th</a:t>
            </a:r>
            <a:r>
              <a:rPr lang="en-US" sz="1100" b="1" dirty="0" smtClean="0">
                <a:solidFill>
                  <a:srgbClr val="FFFFFF"/>
                </a:solidFill>
              </a:rPr>
              <a:t> December 2011			        </a:t>
            </a:r>
            <a:r>
              <a:rPr lang="en-US" sz="1100" b="1" dirty="0">
                <a:solidFill>
                  <a:srgbClr val="FFFFFF"/>
                </a:solidFill>
              </a:rPr>
              <a:t>	</a:t>
            </a:r>
            <a:r>
              <a:rPr lang="en-US" sz="1100" b="1" dirty="0" smtClean="0">
                <a:solidFill>
                  <a:srgbClr val="FFFFFF"/>
                </a:solidFill>
              </a:rPr>
              <a:t>	        </a:t>
            </a:r>
            <a:r>
              <a:rPr lang="en-US" sz="1100" b="1" dirty="0">
                <a:solidFill>
                  <a:srgbClr val="FFFFFF"/>
                </a:solidFill>
              </a:rPr>
              <a:t>	</a:t>
            </a:r>
            <a:r>
              <a:rPr lang="en-US" sz="1100" b="1" dirty="0" smtClean="0">
                <a:solidFill>
                  <a:srgbClr val="FFFFFF"/>
                </a:solidFill>
              </a:rPr>
              <a:t>          IT Risk &amp; Security Management</a:t>
            </a:r>
            <a:endParaRPr lang="en-US" sz="1100" b="1" dirty="0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8362" y="359804"/>
            <a:ext cx="2509025" cy="63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6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otched Right Arrow 23"/>
          <p:cNvSpPr/>
          <p:nvPr/>
        </p:nvSpPr>
        <p:spPr>
          <a:xfrm>
            <a:off x="302259" y="4719530"/>
            <a:ext cx="1522410" cy="1340764"/>
          </a:xfrm>
          <a:prstGeom prst="notch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Motivation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18483" y="6322059"/>
            <a:ext cx="8753118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solidFill>
                  <a:srgbClr val="FFFFFF"/>
                </a:solidFill>
              </a:rPr>
              <a:t>Friday, 13</a:t>
            </a:r>
            <a:r>
              <a:rPr lang="en-US" sz="1100" b="1" baseline="30000" dirty="0" smtClean="0">
                <a:solidFill>
                  <a:srgbClr val="FFFFFF"/>
                </a:solidFill>
              </a:rPr>
              <a:t>th</a:t>
            </a:r>
            <a:r>
              <a:rPr lang="en-US" sz="1100" b="1" dirty="0" smtClean="0">
                <a:solidFill>
                  <a:srgbClr val="FFFFFF"/>
                </a:solidFill>
              </a:rPr>
              <a:t> December 2011			        </a:t>
            </a:r>
            <a:r>
              <a:rPr lang="en-US" sz="1100" b="1" dirty="0">
                <a:solidFill>
                  <a:srgbClr val="FFFFFF"/>
                </a:solidFill>
              </a:rPr>
              <a:t>	</a:t>
            </a:r>
            <a:r>
              <a:rPr lang="en-US" sz="1100" b="1" dirty="0" smtClean="0">
                <a:solidFill>
                  <a:srgbClr val="FFFFFF"/>
                </a:solidFill>
              </a:rPr>
              <a:t>	        </a:t>
            </a:r>
            <a:r>
              <a:rPr lang="en-US" sz="1100" b="1" dirty="0">
                <a:solidFill>
                  <a:srgbClr val="FFFFFF"/>
                </a:solidFill>
              </a:rPr>
              <a:t>	</a:t>
            </a:r>
            <a:r>
              <a:rPr lang="en-US" sz="1100" b="1" dirty="0" smtClean="0">
                <a:solidFill>
                  <a:srgbClr val="FFFFFF"/>
                </a:solidFill>
              </a:rPr>
              <a:t>          IT Risk &amp; Security Management</a:t>
            </a:r>
            <a:endParaRPr lang="en-US" sz="1100" b="1" dirty="0">
              <a:solidFill>
                <a:srgbClr val="FFFFFF"/>
              </a:solidFill>
            </a:endParaRPr>
          </a:p>
        </p:txBody>
      </p:sp>
      <p:grpSp>
        <p:nvGrpSpPr>
          <p:cNvPr id="5" name="Group 1"/>
          <p:cNvGrpSpPr/>
          <p:nvPr/>
        </p:nvGrpSpPr>
        <p:grpSpPr>
          <a:xfrm>
            <a:off x="284326" y="4719530"/>
            <a:ext cx="8687275" cy="1342365"/>
            <a:chOff x="284328" y="6204883"/>
            <a:chExt cx="7395319" cy="469586"/>
          </a:xfrm>
        </p:grpSpPr>
        <p:sp>
          <p:nvSpPr>
            <p:cNvPr id="7" name="Notched Right Arrow 28"/>
            <p:cNvSpPr/>
            <p:nvPr/>
          </p:nvSpPr>
          <p:spPr>
            <a:xfrm>
              <a:off x="3934092" y="620544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Notched Right Arrow 29"/>
            <p:cNvSpPr/>
            <p:nvPr/>
          </p:nvSpPr>
          <p:spPr>
            <a:xfrm>
              <a:off x="5136149" y="620544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Notched Right Arrow 30"/>
            <p:cNvSpPr/>
            <p:nvPr/>
          </p:nvSpPr>
          <p:spPr>
            <a:xfrm>
              <a:off x="6338206" y="620544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Notched Right Arrow 23"/>
            <p:cNvSpPr/>
            <p:nvPr/>
          </p:nvSpPr>
          <p:spPr>
            <a:xfrm>
              <a:off x="1541989" y="620488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Notched Right Arrow 26"/>
            <p:cNvSpPr/>
            <p:nvPr/>
          </p:nvSpPr>
          <p:spPr>
            <a:xfrm>
              <a:off x="2741494" y="620488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27"/>
            <p:cNvSpPr txBox="1"/>
            <p:nvPr/>
          </p:nvSpPr>
          <p:spPr>
            <a:xfrm>
              <a:off x="284328" y="6313495"/>
              <a:ext cx="7395319" cy="333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            </a:t>
              </a:r>
            </a:p>
            <a:p>
              <a:r>
                <a:rPr lang="en-US" sz="1200" b="1" dirty="0" smtClean="0">
                  <a:solidFill>
                    <a:schemeClr val="bg1"/>
                  </a:solidFill>
                </a:rPr>
                <a:t>          </a:t>
              </a:r>
              <a:r>
                <a:rPr lang="en-US" sz="1600" b="1" dirty="0" smtClean="0">
                  <a:solidFill>
                    <a:schemeClr val="bg1"/>
                  </a:solidFill>
                </a:rPr>
                <a:t>Overview	  Models	          Challenges	  Portfolio              Migration            Conclusion	</a:t>
              </a:r>
              <a:endParaRPr lang="en-US" sz="1200" b="1" dirty="0">
                <a:solidFill>
                  <a:schemeClr val="bg1"/>
                </a:solidFill>
              </a:endParaRPr>
            </a:p>
            <a:p>
              <a:r>
                <a:rPr lang="en-US" sz="1200" b="1" dirty="0" smtClean="0">
                  <a:solidFill>
                    <a:schemeClr val="bg1"/>
                  </a:solidFill>
                </a:rPr>
                <a:t>O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18482" y="2612040"/>
            <a:ext cx="85765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b="1" dirty="0" err="1" smtClean="0">
                <a:solidFill>
                  <a:schemeClr val="tx2"/>
                </a:solidFill>
              </a:rPr>
              <a:t>SwissTec</a:t>
            </a:r>
            <a:r>
              <a:rPr lang="en-GB" dirty="0" err="1" smtClean="0">
                <a:solidFill>
                  <a:schemeClr val="tx2"/>
                </a:solidFill>
              </a:rPr>
              <a:t>’s</a:t>
            </a:r>
            <a:r>
              <a:rPr lang="en-GB" dirty="0" smtClean="0">
                <a:solidFill>
                  <a:schemeClr val="tx2"/>
                </a:solidFill>
              </a:rPr>
              <a:t> decrease in competitiveness</a:t>
            </a:r>
            <a:endParaRPr lang="en-GB" dirty="0">
              <a:solidFill>
                <a:schemeClr val="tx2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>
                <a:solidFill>
                  <a:schemeClr val="tx2"/>
                </a:solidFill>
              </a:rPr>
              <a:t>P</a:t>
            </a:r>
            <a:r>
              <a:rPr lang="en-GB" dirty="0" smtClean="0">
                <a:solidFill>
                  <a:schemeClr val="tx2"/>
                </a:solidFill>
              </a:rPr>
              <a:t>romising solution: Cloud Computing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>
                <a:solidFill>
                  <a:schemeClr val="tx2"/>
                </a:solidFill>
              </a:rPr>
              <a:t>Issue: Compromise of security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GB" dirty="0">
              <a:solidFill>
                <a:schemeClr val="tx2"/>
              </a:solidFill>
            </a:endParaRPr>
          </a:p>
          <a:p>
            <a:pPr algn="just"/>
            <a:r>
              <a:rPr lang="en-US" dirty="0" smtClean="0">
                <a:solidFill>
                  <a:schemeClr val="tx2"/>
                </a:solidFill>
                <a:sym typeface="Wingdings"/>
              </a:rPr>
              <a:t> </a:t>
            </a:r>
            <a:r>
              <a:rPr lang="en-US" b="1" dirty="0" err="1" smtClean="0">
                <a:solidFill>
                  <a:schemeClr val="tx2"/>
                </a:solidFill>
                <a:sym typeface="Wingdings"/>
              </a:rPr>
              <a:t>Detecon</a:t>
            </a:r>
            <a:r>
              <a:rPr lang="en-US" b="1" dirty="0" smtClean="0">
                <a:solidFill>
                  <a:schemeClr val="tx2"/>
                </a:solidFill>
                <a:sym typeface="Wingdings"/>
              </a:rPr>
              <a:t> Consulting </a:t>
            </a:r>
            <a:r>
              <a:rPr lang="en-US" dirty="0" smtClean="0">
                <a:solidFill>
                  <a:schemeClr val="tx2"/>
                </a:solidFill>
                <a:sym typeface="Wingdings"/>
              </a:rPr>
              <a:t>shall provide </a:t>
            </a:r>
            <a:r>
              <a:rPr lang="en-GB" dirty="0" smtClean="0">
                <a:solidFill>
                  <a:schemeClr val="tx2"/>
                </a:solidFill>
              </a:rPr>
              <a:t>a structured approach for secure migration</a:t>
            </a:r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74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809999" y="276642"/>
            <a:ext cx="4878215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Cloud Computing</a:t>
            </a:r>
            <a:endParaRPr lang="en-US" b="1" dirty="0"/>
          </a:p>
        </p:txBody>
      </p:sp>
      <p:grpSp>
        <p:nvGrpSpPr>
          <p:cNvPr id="2" name="Group 1"/>
          <p:cNvGrpSpPr/>
          <p:nvPr/>
        </p:nvGrpSpPr>
        <p:grpSpPr>
          <a:xfrm>
            <a:off x="284327" y="6204883"/>
            <a:ext cx="8633895" cy="469586"/>
            <a:chOff x="284328" y="6204883"/>
            <a:chExt cx="7349878" cy="469586"/>
          </a:xfrm>
        </p:grpSpPr>
        <p:sp>
          <p:nvSpPr>
            <p:cNvPr id="29" name="Notched Right Arrow 28"/>
            <p:cNvSpPr/>
            <p:nvPr/>
          </p:nvSpPr>
          <p:spPr>
            <a:xfrm>
              <a:off x="3934092" y="620544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Notched Right Arrow 29"/>
            <p:cNvSpPr/>
            <p:nvPr/>
          </p:nvSpPr>
          <p:spPr>
            <a:xfrm>
              <a:off x="5136149" y="620544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Notched Right Arrow 30"/>
            <p:cNvSpPr/>
            <p:nvPr/>
          </p:nvSpPr>
          <p:spPr>
            <a:xfrm>
              <a:off x="6338206" y="620544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Notched Right Arrow 22"/>
            <p:cNvSpPr/>
            <p:nvPr/>
          </p:nvSpPr>
          <p:spPr>
            <a:xfrm>
              <a:off x="336702" y="6204883"/>
              <a:ext cx="1296000" cy="469026"/>
            </a:xfrm>
            <a:prstGeom prst="notchedRightArrow">
              <a:avLst/>
            </a:prstGeom>
            <a:solidFill>
              <a:schemeClr val="accent1">
                <a:lumMod val="50000"/>
                <a:alpha val="93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Notched Right Arrow 23"/>
            <p:cNvSpPr/>
            <p:nvPr/>
          </p:nvSpPr>
          <p:spPr>
            <a:xfrm>
              <a:off x="1541989" y="620488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Notched Right Arrow 26"/>
            <p:cNvSpPr/>
            <p:nvPr/>
          </p:nvSpPr>
          <p:spPr>
            <a:xfrm>
              <a:off x="2741494" y="6204883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84328" y="6276777"/>
              <a:ext cx="71892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Overview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Models                           Challenges</a:t>
              </a:r>
              <a:r>
                <a:rPr lang="en-US" sz="1200" dirty="0">
                  <a:solidFill>
                    <a:srgbClr val="FFFFFF"/>
                  </a:solidFill>
                </a:rPr>
                <a:t>	</a:t>
              </a:r>
              <a:r>
                <a:rPr lang="en-US" sz="1200" dirty="0" smtClean="0">
                  <a:solidFill>
                    <a:srgbClr val="FFFFFF"/>
                  </a:solidFill>
                </a:rPr>
                <a:t> Portfolio                        Migration                     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68963" y="1368216"/>
            <a:ext cx="20603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Architecture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Picture 6" descr="models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168" y="4563747"/>
            <a:ext cx="5400000" cy="1203695"/>
          </a:xfrm>
          <a:prstGeom prst="rect">
            <a:avLst/>
          </a:prstGeom>
        </p:spPr>
      </p:pic>
      <p:pic>
        <p:nvPicPr>
          <p:cNvPr id="8" name="Picture 7" descr="models2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480" y="3657144"/>
            <a:ext cx="5327854" cy="825817"/>
          </a:xfrm>
          <a:prstGeom prst="rect">
            <a:avLst/>
          </a:prstGeom>
        </p:spPr>
      </p:pic>
      <p:pic>
        <p:nvPicPr>
          <p:cNvPr id="9" name="Picture 8" descr="characteristics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835" y="2358810"/>
            <a:ext cx="5555332" cy="121377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693168" y="5861734"/>
            <a:ext cx="1723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Mell</a:t>
            </a:r>
            <a:r>
              <a:rPr lang="en-GB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Grance</a:t>
            </a:r>
            <a:r>
              <a:rPr lang="en-GB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(2011) </a:t>
            </a:r>
            <a:r>
              <a:rPr lang="en-GB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NIST</a:t>
            </a:r>
            <a:endParaRPr lang="en-GB" sz="12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26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977749" y="167177"/>
            <a:ext cx="6016996" cy="79221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Cloud Deployment Models</a:t>
            </a:r>
            <a:endParaRPr lang="en-US" b="1" dirty="0"/>
          </a:p>
        </p:txBody>
      </p:sp>
      <p:grpSp>
        <p:nvGrpSpPr>
          <p:cNvPr id="4" name="Group 3"/>
          <p:cNvGrpSpPr/>
          <p:nvPr/>
        </p:nvGrpSpPr>
        <p:grpSpPr>
          <a:xfrm>
            <a:off x="284400" y="6206400"/>
            <a:ext cx="8506822" cy="469586"/>
            <a:chOff x="284400" y="6206400"/>
            <a:chExt cx="8506822" cy="469586"/>
          </a:xfrm>
        </p:grpSpPr>
        <p:grpSp>
          <p:nvGrpSpPr>
            <p:cNvPr id="2" name="Group 1"/>
            <p:cNvGrpSpPr/>
            <p:nvPr/>
          </p:nvGrpSpPr>
          <p:grpSpPr>
            <a:xfrm>
              <a:off x="336774" y="6206400"/>
              <a:ext cx="8454448" cy="469586"/>
              <a:chOff x="336774" y="6206400"/>
              <a:chExt cx="7284545" cy="469586"/>
            </a:xfrm>
          </p:grpSpPr>
          <p:sp>
            <p:nvSpPr>
              <p:cNvPr id="73" name="Notched Right Arrow 72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Notched Right Arrow 73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Notched Right Arrow 74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Notched Right Arrow 6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Notched Right Arrow 6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Notched Right Arrow 70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284400" y="6275505"/>
              <a:ext cx="84038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       Overview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Models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Challenges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	Portfolio                       Migration                     Conclusions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4" name="Picture 13" descr="models.pn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4"/>
          <a:stretch/>
        </p:blipFill>
        <p:spPr>
          <a:xfrm>
            <a:off x="920668" y="2593826"/>
            <a:ext cx="7182477" cy="19197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40921" y="4644168"/>
            <a:ext cx="1723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Mell</a:t>
            </a:r>
            <a:r>
              <a:rPr lang="en-GB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Grance</a:t>
            </a:r>
            <a:r>
              <a:rPr lang="en-GB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(2011) </a:t>
            </a:r>
            <a:r>
              <a:rPr lang="en-GB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NIST</a:t>
            </a:r>
            <a:endParaRPr lang="en-GB" sz="12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33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Security Challenges</a:t>
            </a:r>
            <a:endParaRPr lang="en-US" b="1" dirty="0"/>
          </a:p>
        </p:txBody>
      </p:sp>
      <p:grpSp>
        <p:nvGrpSpPr>
          <p:cNvPr id="9" name="Group 8"/>
          <p:cNvGrpSpPr/>
          <p:nvPr/>
        </p:nvGrpSpPr>
        <p:grpSpPr>
          <a:xfrm>
            <a:off x="312622" y="6206400"/>
            <a:ext cx="8628444" cy="469586"/>
            <a:chOff x="312622" y="6206400"/>
            <a:chExt cx="8628444" cy="469586"/>
          </a:xfrm>
        </p:grpSpPr>
        <p:grpSp>
          <p:nvGrpSpPr>
            <p:cNvPr id="10" name="Group 9"/>
            <p:cNvGrpSpPr/>
            <p:nvPr/>
          </p:nvGrpSpPr>
          <p:grpSpPr>
            <a:xfrm>
              <a:off x="336774" y="6206400"/>
              <a:ext cx="8438551" cy="469586"/>
              <a:chOff x="336774" y="6206400"/>
              <a:chExt cx="7284545" cy="469586"/>
            </a:xfrm>
          </p:grpSpPr>
          <p:sp>
            <p:nvSpPr>
              <p:cNvPr id="12" name="Notched Right Arrow 1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Notched Right Arrow 1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Notched Right Arrow 1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Notched Right Arrow 14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Notched Right Arrow 15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Notched Right Arrow 16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312622" y="6274344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Overview                       Models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Challenges</a:t>
              </a:r>
              <a:r>
                <a:rPr lang="en-US" sz="1200" dirty="0" smtClean="0">
                  <a:solidFill>
                    <a:srgbClr val="FFFFFF"/>
                  </a:solidFill>
                </a:rPr>
                <a:t>	 Portfolio 	           Migration                   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014637"/>
              </p:ext>
            </p:extLst>
          </p:nvPr>
        </p:nvGraphicFramePr>
        <p:xfrm>
          <a:off x="305289" y="1981207"/>
          <a:ext cx="8604292" cy="2395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073"/>
                <a:gridCol w="2151073"/>
                <a:gridCol w="2151073"/>
                <a:gridCol w="2151073"/>
              </a:tblGrid>
              <a:tr h="4757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Security Risk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Countermeasure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Scenario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Violated</a:t>
                      </a:r>
                      <a:r>
                        <a:rPr lang="en-US" baseline="0" dirty="0" smtClean="0"/>
                        <a:t> Principle</a:t>
                      </a:r>
                      <a:endParaRPr lang="en-US" dirty="0"/>
                    </a:p>
                  </a:txBody>
                  <a:tcPr/>
                </a:tc>
              </a:tr>
              <a:tr h="475702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Leaked</a:t>
                      </a:r>
                      <a:r>
                        <a:rPr lang="en-US" baseline="0" dirty="0" smtClean="0">
                          <a:solidFill>
                            <a:schemeClr val="tx2"/>
                          </a:solidFill>
                        </a:rPr>
                        <a:t> Data Traffic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Network</a:t>
                      </a:r>
                      <a:r>
                        <a:rPr lang="en-US" baseline="0" dirty="0" smtClean="0">
                          <a:solidFill>
                            <a:schemeClr val="tx2"/>
                          </a:solidFill>
                        </a:rPr>
                        <a:t> Layer </a:t>
                      </a:r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Encryption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Off-site Infrastructure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Confidentiality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475702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Encryption Key</a:t>
                      </a:r>
                      <a:r>
                        <a:rPr lang="en-US" baseline="0" dirty="0" smtClean="0">
                          <a:solidFill>
                            <a:schemeClr val="tx2"/>
                          </a:solidFill>
                        </a:rPr>
                        <a:t> Exposure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Client-</a:t>
                      </a:r>
                      <a:r>
                        <a:rPr lang="en-US" smtClean="0">
                          <a:solidFill>
                            <a:schemeClr val="tx2"/>
                          </a:solidFill>
                        </a:rPr>
                        <a:t>Side Encryption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External Cloud Storage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Integrity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475702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Low </a:t>
                      </a:r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Uptime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SLA guarantees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Public and Community Cloud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2"/>
                          </a:solidFill>
                        </a:rPr>
                        <a:t>Availability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75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Application Portfolio</a:t>
            </a:r>
            <a:endParaRPr lang="en-US" b="1" dirty="0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191949"/>
              </p:ext>
            </p:extLst>
          </p:nvPr>
        </p:nvGraphicFramePr>
        <p:xfrm>
          <a:off x="336774" y="1703100"/>
          <a:ext cx="8432269" cy="429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60"/>
                <a:gridCol w="1034557"/>
                <a:gridCol w="914082"/>
                <a:gridCol w="1033054"/>
                <a:gridCol w="1033054"/>
                <a:gridCol w="1033054"/>
                <a:gridCol w="1033054"/>
                <a:gridCol w="1033054"/>
              </a:tblGrid>
              <a:tr h="47206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Confidentiality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Integrity</a:t>
                      </a:r>
                      <a:r>
                        <a:rPr lang="de-DE" sz="1000" baseline="0" dirty="0" smtClean="0"/>
                        <a:t> +</a:t>
                      </a:r>
                    </a:p>
                    <a:p>
                      <a:r>
                        <a:rPr lang="de-DE" sz="1000" baseline="0" dirty="0" smtClean="0"/>
                        <a:t>Authenticity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Availability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dirty="0" err="1" smtClean="0"/>
                        <a:t>Bandwidth</a:t>
                      </a:r>
                      <a:endParaRPr lang="de-DE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Custom</a:t>
                      </a:r>
                    </a:p>
                    <a:p>
                      <a:r>
                        <a:rPr lang="de-DE" sz="1200" dirty="0" err="1" smtClean="0"/>
                        <a:t>Modelling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  <a:p>
                      <a:r>
                        <a:rPr lang="de-DE" sz="1200" dirty="0" err="1" smtClean="0"/>
                        <a:t>Maturity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E-Mail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Website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Intranet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Fileserver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98378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Financial </a:t>
                      </a:r>
                      <a:r>
                        <a:rPr lang="de-DE" sz="1400" dirty="0" err="1" smtClean="0"/>
                        <a:t>Accounting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Payroll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CAD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284400" y="6206400"/>
            <a:ext cx="8658505" cy="469586"/>
            <a:chOff x="284400" y="6206400"/>
            <a:chExt cx="8658505" cy="469586"/>
          </a:xfrm>
        </p:grpSpPr>
        <p:grpSp>
          <p:nvGrpSpPr>
            <p:cNvPr id="36" name="Group 35"/>
            <p:cNvGrpSpPr/>
            <p:nvPr/>
          </p:nvGrpSpPr>
          <p:grpSpPr>
            <a:xfrm>
              <a:off x="336774" y="6206400"/>
              <a:ext cx="8606131" cy="469586"/>
              <a:chOff x="336774" y="6206400"/>
              <a:chExt cx="7284545" cy="469586"/>
            </a:xfrm>
          </p:grpSpPr>
          <p:sp>
            <p:nvSpPr>
              <p:cNvPr id="38" name="Notched Right Arrow 37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Notched Right Arrow 38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Notched Right Arrow 39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Notched Right Arrow 40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Notched Right Arrow 41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Notched Right Arrow 42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284400" y="6266915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Overview                	Models                         Challenges	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Portfolio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Migration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934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Application Portfolio</a:t>
            </a:r>
            <a:endParaRPr lang="en-US" b="1" dirty="0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583545"/>
              </p:ext>
            </p:extLst>
          </p:nvPr>
        </p:nvGraphicFramePr>
        <p:xfrm>
          <a:off x="336774" y="1703100"/>
          <a:ext cx="8432269" cy="429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60"/>
                <a:gridCol w="1034557"/>
                <a:gridCol w="914082"/>
                <a:gridCol w="1033054"/>
                <a:gridCol w="1033054"/>
                <a:gridCol w="1033054"/>
                <a:gridCol w="1033054"/>
                <a:gridCol w="1033054"/>
              </a:tblGrid>
              <a:tr h="47206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Confidentiality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Integrity</a:t>
                      </a:r>
                      <a:r>
                        <a:rPr lang="de-DE" sz="1000" baseline="0" dirty="0" smtClean="0"/>
                        <a:t> +</a:t>
                      </a:r>
                    </a:p>
                    <a:p>
                      <a:r>
                        <a:rPr lang="de-DE" sz="1000" baseline="0" dirty="0" smtClean="0"/>
                        <a:t>Authenticity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Availability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dirty="0" err="1" smtClean="0"/>
                        <a:t>Bandwidth</a:t>
                      </a:r>
                      <a:endParaRPr lang="de-DE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Custom</a:t>
                      </a:r>
                    </a:p>
                    <a:p>
                      <a:r>
                        <a:rPr lang="de-DE" sz="1200" dirty="0" err="1" smtClean="0"/>
                        <a:t>Modelling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  <a:p>
                      <a:r>
                        <a:rPr lang="de-DE" sz="1200" dirty="0" err="1" smtClean="0"/>
                        <a:t>Maturity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E-Mail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Website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Intranet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Fileserver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98378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Financial </a:t>
                      </a:r>
                      <a:r>
                        <a:rPr lang="de-DE" sz="1400" dirty="0" err="1" smtClean="0"/>
                        <a:t>Accounting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Payroll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CAD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284400" y="6206400"/>
            <a:ext cx="8658505" cy="469586"/>
            <a:chOff x="284400" y="6206400"/>
            <a:chExt cx="8658505" cy="469586"/>
          </a:xfrm>
        </p:grpSpPr>
        <p:grpSp>
          <p:nvGrpSpPr>
            <p:cNvPr id="36" name="Group 35"/>
            <p:cNvGrpSpPr/>
            <p:nvPr/>
          </p:nvGrpSpPr>
          <p:grpSpPr>
            <a:xfrm>
              <a:off x="336774" y="6206400"/>
              <a:ext cx="8606131" cy="469586"/>
              <a:chOff x="336774" y="6206400"/>
              <a:chExt cx="7284545" cy="469586"/>
            </a:xfrm>
          </p:grpSpPr>
          <p:sp>
            <p:nvSpPr>
              <p:cNvPr id="38" name="Notched Right Arrow 37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Notched Right Arrow 38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Notched Right Arrow 39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Notched Right Arrow 40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Notched Right Arrow 41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Notched Right Arrow 42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284400" y="6266915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Overview                	Models                         Challenges	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Portfolio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Migration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88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Application Portfolio</a:t>
            </a:r>
            <a:endParaRPr lang="en-US" b="1" dirty="0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466052"/>
              </p:ext>
            </p:extLst>
          </p:nvPr>
        </p:nvGraphicFramePr>
        <p:xfrm>
          <a:off x="336774" y="1703100"/>
          <a:ext cx="8432269" cy="429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60"/>
                <a:gridCol w="1034557"/>
                <a:gridCol w="914082"/>
                <a:gridCol w="1033054"/>
                <a:gridCol w="1033054"/>
                <a:gridCol w="1033054"/>
                <a:gridCol w="1033054"/>
                <a:gridCol w="1033054"/>
              </a:tblGrid>
              <a:tr h="47206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Confidentiality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Integrity</a:t>
                      </a:r>
                      <a:r>
                        <a:rPr lang="de-DE" sz="1000" baseline="0" dirty="0" smtClean="0"/>
                        <a:t> +</a:t>
                      </a:r>
                    </a:p>
                    <a:p>
                      <a:r>
                        <a:rPr lang="de-DE" sz="1000" baseline="0" dirty="0" smtClean="0"/>
                        <a:t>Authenticity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Availability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dirty="0" err="1" smtClean="0"/>
                        <a:t>Bandwidth</a:t>
                      </a:r>
                      <a:endParaRPr lang="de-DE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Custom</a:t>
                      </a:r>
                    </a:p>
                    <a:p>
                      <a:r>
                        <a:rPr lang="de-DE" sz="1200" dirty="0" err="1" smtClean="0"/>
                        <a:t>Modelling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  <a:p>
                      <a:r>
                        <a:rPr lang="de-DE" sz="1200" dirty="0" err="1" smtClean="0"/>
                        <a:t>Maturity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aseline="0" dirty="0" smtClean="0">
                          <a:solidFill>
                            <a:schemeClr val="tx1"/>
                          </a:solidFill>
                        </a:rPr>
                        <a:t>Rating</a:t>
                      </a:r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E-Mail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50%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Website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66%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Intranet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86%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Fileserver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55%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98378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Financial </a:t>
                      </a:r>
                      <a:r>
                        <a:rPr lang="de-DE" sz="1400" dirty="0" err="1" smtClean="0"/>
                        <a:t>Accounting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38%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Payroll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50%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43%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CAD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Multiplizieren 3"/>
          <p:cNvSpPr/>
          <p:nvPr/>
        </p:nvSpPr>
        <p:spPr>
          <a:xfrm>
            <a:off x="1307254" y="5091151"/>
            <a:ext cx="317719" cy="317513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Multiplizieren 17"/>
          <p:cNvSpPr/>
          <p:nvPr/>
        </p:nvSpPr>
        <p:spPr>
          <a:xfrm>
            <a:off x="1307254" y="5561064"/>
            <a:ext cx="317719" cy="317513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ahmen 7"/>
          <p:cNvSpPr/>
          <p:nvPr/>
        </p:nvSpPr>
        <p:spPr>
          <a:xfrm>
            <a:off x="1307254" y="4686049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ahmen 20"/>
          <p:cNvSpPr/>
          <p:nvPr/>
        </p:nvSpPr>
        <p:spPr>
          <a:xfrm>
            <a:off x="1307254" y="413773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ahmen 21"/>
          <p:cNvSpPr/>
          <p:nvPr/>
        </p:nvSpPr>
        <p:spPr>
          <a:xfrm>
            <a:off x="1307254" y="3655988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ahmen 22"/>
          <p:cNvSpPr/>
          <p:nvPr/>
        </p:nvSpPr>
        <p:spPr>
          <a:xfrm>
            <a:off x="1307254" y="269250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ahmen 23"/>
          <p:cNvSpPr/>
          <p:nvPr/>
        </p:nvSpPr>
        <p:spPr>
          <a:xfrm>
            <a:off x="1307254" y="2232655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9" name="Bild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9071" y="3212270"/>
            <a:ext cx="375902" cy="325990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284400" y="6206400"/>
            <a:ext cx="8658505" cy="469586"/>
            <a:chOff x="284400" y="6206400"/>
            <a:chExt cx="8658505" cy="469586"/>
          </a:xfrm>
        </p:grpSpPr>
        <p:grpSp>
          <p:nvGrpSpPr>
            <p:cNvPr id="36" name="Group 35"/>
            <p:cNvGrpSpPr/>
            <p:nvPr/>
          </p:nvGrpSpPr>
          <p:grpSpPr>
            <a:xfrm>
              <a:off x="336774" y="6206400"/>
              <a:ext cx="8606131" cy="469586"/>
              <a:chOff x="336774" y="6206400"/>
              <a:chExt cx="7284545" cy="469586"/>
            </a:xfrm>
          </p:grpSpPr>
          <p:sp>
            <p:nvSpPr>
              <p:cNvPr id="38" name="Notched Right Arrow 37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Notched Right Arrow 38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Notched Right Arrow 39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Notched Right Arrow 40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Notched Right Arrow 41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Notched Right Arrow 42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284400" y="6266915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Overview                	Models                         Challenges	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Portfolio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Migration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567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8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Application Portfolio</a:t>
            </a:r>
            <a:endParaRPr lang="en-US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284400" y="6206400"/>
            <a:ext cx="8658505" cy="469586"/>
            <a:chOff x="284400" y="6206400"/>
            <a:chExt cx="8658505" cy="469586"/>
          </a:xfrm>
        </p:grpSpPr>
        <p:grpSp>
          <p:nvGrpSpPr>
            <p:cNvPr id="6" name="Group 5"/>
            <p:cNvGrpSpPr/>
            <p:nvPr/>
          </p:nvGrpSpPr>
          <p:grpSpPr>
            <a:xfrm>
              <a:off x="336774" y="6206400"/>
              <a:ext cx="8606131" cy="469586"/>
              <a:chOff x="336774" y="6206400"/>
              <a:chExt cx="7284545" cy="469586"/>
            </a:xfrm>
          </p:grpSpPr>
          <p:sp>
            <p:nvSpPr>
              <p:cNvPr id="58" name="Notched Right Arrow 57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Notched Right Arrow 58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Notched Right Arrow 59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Notched Right Arrow 53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Notched Right Arrow 54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Notched Right Arrow 55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284400" y="6266915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Overview                	Models                         Challenges	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Portfolio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Migration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586189"/>
              </p:ext>
            </p:extLst>
          </p:nvPr>
        </p:nvGraphicFramePr>
        <p:xfrm>
          <a:off x="336774" y="1703100"/>
          <a:ext cx="8432269" cy="3350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60"/>
                <a:gridCol w="1034557"/>
                <a:gridCol w="914082"/>
                <a:gridCol w="1033054"/>
                <a:gridCol w="1033054"/>
                <a:gridCol w="1033054"/>
                <a:gridCol w="1033054"/>
                <a:gridCol w="1033054"/>
              </a:tblGrid>
              <a:tr h="47206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Confidentiality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Integrity</a:t>
                      </a:r>
                      <a:r>
                        <a:rPr lang="de-DE" sz="1000" baseline="0" dirty="0" smtClean="0"/>
                        <a:t> +</a:t>
                      </a:r>
                    </a:p>
                    <a:p>
                      <a:r>
                        <a:rPr lang="de-DE" sz="1000" baseline="0" dirty="0" smtClean="0"/>
                        <a:t>Authenticity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Availability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dirty="0" err="1" smtClean="0"/>
                        <a:t>Bandwidth</a:t>
                      </a:r>
                      <a:endParaRPr lang="de-DE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Custom</a:t>
                      </a:r>
                    </a:p>
                    <a:p>
                      <a:r>
                        <a:rPr lang="de-DE" sz="1200" dirty="0" err="1" smtClean="0"/>
                        <a:t>Modelling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  <a:p>
                      <a:r>
                        <a:rPr lang="de-DE" sz="1200" dirty="0" err="1" smtClean="0"/>
                        <a:t>Maturity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aseline="0" dirty="0" smtClean="0">
                          <a:solidFill>
                            <a:schemeClr val="tx1"/>
                          </a:solidFill>
                        </a:rPr>
                        <a:t>Rating</a:t>
                      </a:r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E-Mail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50%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Website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66%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Intranet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86%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Fileserver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55%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98378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Financial </a:t>
                      </a:r>
                      <a:r>
                        <a:rPr lang="de-DE" sz="1400" dirty="0" err="1" smtClean="0"/>
                        <a:t>Accounting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 smtClean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38%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Payroll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50%</a:t>
                      </a:r>
                      <a:endParaRPr lang="de-DE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ahmen 7"/>
          <p:cNvSpPr/>
          <p:nvPr/>
        </p:nvSpPr>
        <p:spPr>
          <a:xfrm>
            <a:off x="1307254" y="4686049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ahmen 20"/>
          <p:cNvSpPr/>
          <p:nvPr/>
        </p:nvSpPr>
        <p:spPr>
          <a:xfrm>
            <a:off x="1307254" y="413773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ahmen 21"/>
          <p:cNvSpPr/>
          <p:nvPr/>
        </p:nvSpPr>
        <p:spPr>
          <a:xfrm>
            <a:off x="1307254" y="3655988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ahmen 22"/>
          <p:cNvSpPr/>
          <p:nvPr/>
        </p:nvSpPr>
        <p:spPr>
          <a:xfrm>
            <a:off x="1307254" y="269250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ahmen 23"/>
          <p:cNvSpPr/>
          <p:nvPr/>
        </p:nvSpPr>
        <p:spPr>
          <a:xfrm>
            <a:off x="1307254" y="2232655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9" name="Bild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9071" y="3212270"/>
            <a:ext cx="375902" cy="32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8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Application Portfolio</a:t>
            </a:r>
            <a:endParaRPr lang="en-US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284400" y="6206400"/>
            <a:ext cx="8658505" cy="469586"/>
            <a:chOff x="284400" y="6206400"/>
            <a:chExt cx="8658505" cy="469586"/>
          </a:xfrm>
        </p:grpSpPr>
        <p:grpSp>
          <p:nvGrpSpPr>
            <p:cNvPr id="6" name="Group 5"/>
            <p:cNvGrpSpPr/>
            <p:nvPr/>
          </p:nvGrpSpPr>
          <p:grpSpPr>
            <a:xfrm>
              <a:off x="336774" y="6206400"/>
              <a:ext cx="8606131" cy="469586"/>
              <a:chOff x="336774" y="6206400"/>
              <a:chExt cx="7284545" cy="469586"/>
            </a:xfrm>
          </p:grpSpPr>
          <p:sp>
            <p:nvSpPr>
              <p:cNvPr id="58" name="Notched Right Arrow 57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Notched Right Arrow 58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Notched Right Arrow 59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Notched Right Arrow 53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Notched Right Arrow 54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Notched Right Arrow 55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284400" y="6266915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Overview                	Models                         Challenges	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Portfolio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Migration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85722"/>
              </p:ext>
            </p:extLst>
          </p:nvPr>
        </p:nvGraphicFramePr>
        <p:xfrm>
          <a:off x="336774" y="1703100"/>
          <a:ext cx="8432269" cy="3350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60"/>
                <a:gridCol w="1034557"/>
                <a:gridCol w="914082"/>
                <a:gridCol w="1033054"/>
                <a:gridCol w="1033054"/>
                <a:gridCol w="1033054"/>
                <a:gridCol w="1033054"/>
                <a:gridCol w="1033054"/>
              </a:tblGrid>
              <a:tr h="47206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Confidentiality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Integrity</a:t>
                      </a:r>
                      <a:r>
                        <a:rPr lang="de-DE" sz="1000" baseline="0" dirty="0" smtClean="0"/>
                        <a:t> +</a:t>
                      </a:r>
                    </a:p>
                    <a:p>
                      <a:r>
                        <a:rPr lang="de-DE" sz="1000" baseline="0" dirty="0" smtClean="0"/>
                        <a:t>Authenticity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Availability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dirty="0" err="1" smtClean="0"/>
                        <a:t>Bandwidth</a:t>
                      </a:r>
                      <a:endParaRPr lang="de-DE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Custom</a:t>
                      </a:r>
                    </a:p>
                    <a:p>
                      <a:r>
                        <a:rPr lang="de-DE" sz="1200" dirty="0" err="1" smtClean="0"/>
                        <a:t>Modelling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  <a:p>
                      <a:r>
                        <a:rPr lang="de-DE" sz="1200" dirty="0" err="1" smtClean="0"/>
                        <a:t>Maturity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E-Mail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Website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Intranet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Fileserver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98378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Financial </a:t>
                      </a:r>
                      <a:r>
                        <a:rPr lang="de-DE" sz="1400" dirty="0" err="1" smtClean="0"/>
                        <a:t>Accounting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 smtClean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Payroll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sz="1200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ahmen 7"/>
          <p:cNvSpPr/>
          <p:nvPr/>
        </p:nvSpPr>
        <p:spPr>
          <a:xfrm>
            <a:off x="1307254" y="4686049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ahmen 20"/>
          <p:cNvSpPr/>
          <p:nvPr/>
        </p:nvSpPr>
        <p:spPr>
          <a:xfrm>
            <a:off x="1307254" y="413773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ahmen 21"/>
          <p:cNvSpPr/>
          <p:nvPr/>
        </p:nvSpPr>
        <p:spPr>
          <a:xfrm>
            <a:off x="1307254" y="3655988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ahmen 22"/>
          <p:cNvSpPr/>
          <p:nvPr/>
        </p:nvSpPr>
        <p:spPr>
          <a:xfrm>
            <a:off x="1307254" y="269250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ahmen 23"/>
          <p:cNvSpPr/>
          <p:nvPr/>
        </p:nvSpPr>
        <p:spPr>
          <a:xfrm>
            <a:off x="1307254" y="2232655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9" name="Bild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9071" y="3212270"/>
            <a:ext cx="375902" cy="32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1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Application Portfolio</a:t>
            </a:r>
            <a:endParaRPr lang="en-US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284400" y="6206400"/>
            <a:ext cx="8658505" cy="469586"/>
            <a:chOff x="284400" y="6206400"/>
            <a:chExt cx="8658505" cy="469586"/>
          </a:xfrm>
        </p:grpSpPr>
        <p:grpSp>
          <p:nvGrpSpPr>
            <p:cNvPr id="6" name="Group 5"/>
            <p:cNvGrpSpPr/>
            <p:nvPr/>
          </p:nvGrpSpPr>
          <p:grpSpPr>
            <a:xfrm>
              <a:off x="336774" y="6206400"/>
              <a:ext cx="8606131" cy="469586"/>
              <a:chOff x="336774" y="6206400"/>
              <a:chExt cx="7284545" cy="469586"/>
            </a:xfrm>
          </p:grpSpPr>
          <p:sp>
            <p:nvSpPr>
              <p:cNvPr id="58" name="Notched Right Arrow 57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Notched Right Arrow 58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Notched Right Arrow 59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Notched Right Arrow 53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Notched Right Arrow 54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Notched Right Arrow 55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284400" y="6266915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Overview                	Models                         Challenges	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Portfolio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Migration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784407"/>
              </p:ext>
            </p:extLst>
          </p:nvPr>
        </p:nvGraphicFramePr>
        <p:xfrm>
          <a:off x="336774" y="1703100"/>
          <a:ext cx="7399215" cy="3350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60"/>
                <a:gridCol w="1034557"/>
                <a:gridCol w="914082"/>
                <a:gridCol w="1033054"/>
                <a:gridCol w="1033054"/>
                <a:gridCol w="1033054"/>
                <a:gridCol w="1033054"/>
              </a:tblGrid>
              <a:tr h="47206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Confidentiality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Integrity</a:t>
                      </a:r>
                      <a:r>
                        <a:rPr lang="de-DE" sz="1000" baseline="0" dirty="0" smtClean="0"/>
                        <a:t> +</a:t>
                      </a:r>
                    </a:p>
                    <a:p>
                      <a:r>
                        <a:rPr lang="de-DE" sz="1000" baseline="0" dirty="0" smtClean="0"/>
                        <a:t>Authenticity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Availability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dirty="0" err="1" smtClean="0"/>
                        <a:t>Bandwidth</a:t>
                      </a:r>
                      <a:endParaRPr lang="de-DE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Custom</a:t>
                      </a:r>
                    </a:p>
                    <a:p>
                      <a:r>
                        <a:rPr lang="de-DE" sz="1200" dirty="0" err="1" smtClean="0"/>
                        <a:t>Modelling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  <a:p>
                      <a:r>
                        <a:rPr lang="de-DE" sz="1200" dirty="0" err="1" smtClean="0"/>
                        <a:t>Maturity</a:t>
                      </a:r>
                      <a:endParaRPr lang="de-DE" sz="1200" dirty="0"/>
                    </a:p>
                  </a:txBody>
                  <a:tcPr/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E-Mail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Website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Audits, Updates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Intranet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Fileserver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</a:tr>
              <a:tr h="498378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Financial </a:t>
                      </a:r>
                      <a:r>
                        <a:rPr lang="de-DE" sz="1400" dirty="0" err="1" smtClean="0"/>
                        <a:t>Accounting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 smtClean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Payroll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sz="1200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de-DE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ahmen 7"/>
          <p:cNvSpPr/>
          <p:nvPr/>
        </p:nvSpPr>
        <p:spPr>
          <a:xfrm>
            <a:off x="1307254" y="4686049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ahmen 20"/>
          <p:cNvSpPr/>
          <p:nvPr/>
        </p:nvSpPr>
        <p:spPr>
          <a:xfrm>
            <a:off x="1307254" y="413773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ahmen 21"/>
          <p:cNvSpPr/>
          <p:nvPr/>
        </p:nvSpPr>
        <p:spPr>
          <a:xfrm>
            <a:off x="1307254" y="3655988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ahmen 22"/>
          <p:cNvSpPr/>
          <p:nvPr/>
        </p:nvSpPr>
        <p:spPr>
          <a:xfrm>
            <a:off x="1307254" y="269250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ahmen 23"/>
          <p:cNvSpPr/>
          <p:nvPr/>
        </p:nvSpPr>
        <p:spPr>
          <a:xfrm>
            <a:off x="1307254" y="2232655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9" name="Bild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9071" y="3212270"/>
            <a:ext cx="375902" cy="32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5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Application Portfolio</a:t>
            </a:r>
            <a:endParaRPr lang="en-US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284400" y="6206400"/>
            <a:ext cx="8658505" cy="469586"/>
            <a:chOff x="284400" y="6206400"/>
            <a:chExt cx="8658505" cy="469586"/>
          </a:xfrm>
        </p:grpSpPr>
        <p:grpSp>
          <p:nvGrpSpPr>
            <p:cNvPr id="6" name="Group 5"/>
            <p:cNvGrpSpPr/>
            <p:nvPr/>
          </p:nvGrpSpPr>
          <p:grpSpPr>
            <a:xfrm>
              <a:off x="336774" y="6206400"/>
              <a:ext cx="8606131" cy="469586"/>
              <a:chOff x="336774" y="6206400"/>
              <a:chExt cx="7284545" cy="469586"/>
            </a:xfrm>
          </p:grpSpPr>
          <p:sp>
            <p:nvSpPr>
              <p:cNvPr id="58" name="Notched Right Arrow 57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Notched Right Arrow 58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Notched Right Arrow 59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Notched Right Arrow 53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Notched Right Arrow 54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Notched Right Arrow 55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284400" y="6266915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Overview                	Models                         Challenges	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Portfolio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Migration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640788"/>
              </p:ext>
            </p:extLst>
          </p:nvPr>
        </p:nvGraphicFramePr>
        <p:xfrm>
          <a:off x="336774" y="1703100"/>
          <a:ext cx="8432269" cy="3350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60"/>
                <a:gridCol w="1034557"/>
                <a:gridCol w="914082"/>
                <a:gridCol w="1033054"/>
                <a:gridCol w="1033054"/>
                <a:gridCol w="1033054"/>
                <a:gridCol w="1033054"/>
                <a:gridCol w="1033054"/>
              </a:tblGrid>
              <a:tr h="47206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Confidentiality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Integrity</a:t>
                      </a:r>
                      <a:r>
                        <a:rPr lang="de-DE" sz="1000" baseline="0" dirty="0" smtClean="0"/>
                        <a:t> +</a:t>
                      </a:r>
                    </a:p>
                    <a:p>
                      <a:r>
                        <a:rPr lang="de-DE" sz="1000" baseline="0" dirty="0" smtClean="0"/>
                        <a:t>Authenticity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Availability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dirty="0" err="1" smtClean="0"/>
                        <a:t>Bandwidth</a:t>
                      </a:r>
                      <a:endParaRPr lang="de-DE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Custom</a:t>
                      </a:r>
                    </a:p>
                    <a:p>
                      <a:r>
                        <a:rPr lang="de-DE" sz="1200" dirty="0" err="1" smtClean="0"/>
                        <a:t>Modelling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  <a:p>
                      <a:r>
                        <a:rPr lang="de-DE" sz="1200" dirty="0" err="1" smtClean="0"/>
                        <a:t>Maturity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E-Mail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Website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Audits, Updates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Intranet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Fileserver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98378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Financial </a:t>
                      </a:r>
                      <a:r>
                        <a:rPr lang="de-DE" sz="1400" dirty="0" err="1" smtClean="0"/>
                        <a:t>Accounting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 smtClean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Payroll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sz="1200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de-DE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ahmen 7"/>
          <p:cNvSpPr/>
          <p:nvPr/>
        </p:nvSpPr>
        <p:spPr>
          <a:xfrm>
            <a:off x="1307254" y="4686049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ahmen 20"/>
          <p:cNvSpPr/>
          <p:nvPr/>
        </p:nvSpPr>
        <p:spPr>
          <a:xfrm>
            <a:off x="1307254" y="413773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ahmen 21"/>
          <p:cNvSpPr/>
          <p:nvPr/>
        </p:nvSpPr>
        <p:spPr>
          <a:xfrm>
            <a:off x="1307254" y="3655988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ahmen 22"/>
          <p:cNvSpPr/>
          <p:nvPr/>
        </p:nvSpPr>
        <p:spPr>
          <a:xfrm>
            <a:off x="1307254" y="269250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ahmen 23"/>
          <p:cNvSpPr/>
          <p:nvPr/>
        </p:nvSpPr>
        <p:spPr>
          <a:xfrm>
            <a:off x="1307254" y="2232655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9" name="Bild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9071" y="3212270"/>
            <a:ext cx="375902" cy="32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8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Application Portfolio</a:t>
            </a:r>
            <a:endParaRPr lang="en-US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284400" y="6206400"/>
            <a:ext cx="8658505" cy="469586"/>
            <a:chOff x="284400" y="6206400"/>
            <a:chExt cx="8658505" cy="469586"/>
          </a:xfrm>
        </p:grpSpPr>
        <p:grpSp>
          <p:nvGrpSpPr>
            <p:cNvPr id="6" name="Group 5"/>
            <p:cNvGrpSpPr/>
            <p:nvPr/>
          </p:nvGrpSpPr>
          <p:grpSpPr>
            <a:xfrm>
              <a:off x="336774" y="6206400"/>
              <a:ext cx="8606131" cy="469586"/>
              <a:chOff x="336774" y="6206400"/>
              <a:chExt cx="7284545" cy="469586"/>
            </a:xfrm>
          </p:grpSpPr>
          <p:sp>
            <p:nvSpPr>
              <p:cNvPr id="58" name="Notched Right Arrow 57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Notched Right Arrow 58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Notched Right Arrow 59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Notched Right Arrow 53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Notched Right Arrow 54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Notched Right Arrow 55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284400" y="6266915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Overview                	Models                         Challenges	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Portfolio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Migration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120133"/>
              </p:ext>
            </p:extLst>
          </p:nvPr>
        </p:nvGraphicFramePr>
        <p:xfrm>
          <a:off x="336774" y="1703100"/>
          <a:ext cx="8432269" cy="3350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60"/>
                <a:gridCol w="1034557"/>
                <a:gridCol w="914082"/>
                <a:gridCol w="1033054"/>
                <a:gridCol w="1033054"/>
                <a:gridCol w="1033054"/>
                <a:gridCol w="1033054"/>
                <a:gridCol w="1033054"/>
              </a:tblGrid>
              <a:tr h="47206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Confidentiality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Integrity</a:t>
                      </a:r>
                      <a:r>
                        <a:rPr lang="de-DE" sz="1000" baseline="0" dirty="0" smtClean="0"/>
                        <a:t> +</a:t>
                      </a:r>
                    </a:p>
                    <a:p>
                      <a:r>
                        <a:rPr lang="de-DE" sz="1000" baseline="0" dirty="0" smtClean="0"/>
                        <a:t>Authenticity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Availability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dirty="0" err="1" smtClean="0"/>
                        <a:t>Bandwidth</a:t>
                      </a:r>
                      <a:endParaRPr lang="de-DE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Custom</a:t>
                      </a:r>
                    </a:p>
                    <a:p>
                      <a:r>
                        <a:rPr lang="de-DE" sz="1200" dirty="0" err="1" smtClean="0"/>
                        <a:t>Modelling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  <a:p>
                      <a:r>
                        <a:rPr lang="de-DE" sz="1200" dirty="0" err="1" smtClean="0"/>
                        <a:t>Maturity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E-Mail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Website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Audits, Updates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Intranet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Fileserver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Hybrid</a:t>
                      </a:r>
                      <a:r>
                        <a:rPr lang="de-DE" dirty="0" smtClean="0"/>
                        <a:t> </a:t>
                      </a:r>
                      <a:r>
                        <a:rPr lang="de-DE" sz="12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Cloud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Hybrid</a:t>
                      </a:r>
                      <a:r>
                        <a:rPr lang="de-DE" dirty="0" smtClean="0"/>
                        <a:t> </a:t>
                      </a:r>
                      <a:r>
                        <a:rPr lang="de-DE" sz="12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Cloud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98378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Financial </a:t>
                      </a:r>
                      <a:r>
                        <a:rPr lang="de-DE" sz="1400" dirty="0" err="1" smtClean="0"/>
                        <a:t>Accounting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 smtClean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Payroll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sz="1200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de-DE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ahmen 7"/>
          <p:cNvSpPr/>
          <p:nvPr/>
        </p:nvSpPr>
        <p:spPr>
          <a:xfrm>
            <a:off x="1307254" y="4686049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ahmen 20"/>
          <p:cNvSpPr/>
          <p:nvPr/>
        </p:nvSpPr>
        <p:spPr>
          <a:xfrm>
            <a:off x="1307254" y="413773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ahmen 21"/>
          <p:cNvSpPr/>
          <p:nvPr/>
        </p:nvSpPr>
        <p:spPr>
          <a:xfrm>
            <a:off x="1307254" y="3655988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ahmen 22"/>
          <p:cNvSpPr/>
          <p:nvPr/>
        </p:nvSpPr>
        <p:spPr>
          <a:xfrm>
            <a:off x="1307254" y="269250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ahmen 23"/>
          <p:cNvSpPr/>
          <p:nvPr/>
        </p:nvSpPr>
        <p:spPr>
          <a:xfrm>
            <a:off x="1307254" y="2232655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9" name="Bild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9071" y="3212270"/>
            <a:ext cx="375902" cy="32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9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 txBox="1">
            <a:spLocks/>
          </p:cNvSpPr>
          <p:nvPr/>
        </p:nvSpPr>
        <p:spPr>
          <a:xfrm>
            <a:off x="3249561" y="246760"/>
            <a:ext cx="5693344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Application Portfolio</a:t>
            </a:r>
            <a:endParaRPr lang="en-US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284400" y="6206400"/>
            <a:ext cx="8658505" cy="469586"/>
            <a:chOff x="284400" y="6206400"/>
            <a:chExt cx="8658505" cy="469586"/>
          </a:xfrm>
        </p:grpSpPr>
        <p:grpSp>
          <p:nvGrpSpPr>
            <p:cNvPr id="6" name="Group 5"/>
            <p:cNvGrpSpPr/>
            <p:nvPr/>
          </p:nvGrpSpPr>
          <p:grpSpPr>
            <a:xfrm>
              <a:off x="336774" y="6206400"/>
              <a:ext cx="8606131" cy="469586"/>
              <a:chOff x="336774" y="6206400"/>
              <a:chExt cx="7284545" cy="469586"/>
            </a:xfrm>
          </p:grpSpPr>
          <p:sp>
            <p:nvSpPr>
              <p:cNvPr id="58" name="Notched Right Arrow 57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Notched Right Arrow 58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Notched Right Arrow 59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Notched Right Arrow 53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Notched Right Arrow 54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Notched Right Arrow 55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284400" y="6266915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FFFF"/>
                  </a:solidFill>
                </a:rPr>
                <a:t>     </a:t>
              </a:r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Overview                	Models                         Challenges	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Portfolio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      Migration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714367"/>
              </p:ext>
            </p:extLst>
          </p:nvPr>
        </p:nvGraphicFramePr>
        <p:xfrm>
          <a:off x="336774" y="1703100"/>
          <a:ext cx="8432269" cy="3350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60"/>
                <a:gridCol w="1034557"/>
                <a:gridCol w="914082"/>
                <a:gridCol w="1033054"/>
                <a:gridCol w="1033054"/>
                <a:gridCol w="1033054"/>
                <a:gridCol w="1033054"/>
                <a:gridCol w="1033054"/>
              </a:tblGrid>
              <a:tr h="47206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Confidentiality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 smtClean="0"/>
                        <a:t>Integrity</a:t>
                      </a:r>
                      <a:r>
                        <a:rPr lang="de-DE" sz="1000" baseline="0" dirty="0" smtClean="0"/>
                        <a:t> +</a:t>
                      </a:r>
                    </a:p>
                    <a:p>
                      <a:r>
                        <a:rPr lang="de-DE" sz="1000" baseline="0" dirty="0" smtClean="0"/>
                        <a:t>Authenticity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Availability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dirty="0" err="1" smtClean="0"/>
                        <a:t>Bandwidth</a:t>
                      </a:r>
                      <a:endParaRPr lang="de-DE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Custom</a:t>
                      </a:r>
                    </a:p>
                    <a:p>
                      <a:r>
                        <a:rPr lang="de-DE" sz="1200" dirty="0" err="1" smtClean="0"/>
                        <a:t>Modelling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  <a:p>
                      <a:r>
                        <a:rPr lang="de-DE" sz="1200" dirty="0" err="1" smtClean="0"/>
                        <a:t>Maturity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E-Mail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Public</a:t>
                      </a:r>
                      <a:endParaRPr lang="de-DE" sz="1200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Website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Audits, Updates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Public</a:t>
                      </a:r>
                      <a:endParaRPr lang="de-DE" sz="1200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Intranet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Public</a:t>
                      </a:r>
                      <a:endParaRPr lang="de-DE" sz="1200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Fileserver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Client-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side</a:t>
                      </a:r>
                      <a:r>
                        <a:rPr lang="de-DE" sz="1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200" dirty="0" err="1" smtClean="0">
                          <a:solidFill>
                            <a:schemeClr val="bg1"/>
                          </a:solidFill>
                        </a:rPr>
                        <a:t>encryption</a:t>
                      </a:r>
                      <a:endParaRPr lang="de-DE" sz="120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Hybrid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Cloud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Hybrid</a:t>
                      </a:r>
                      <a:r>
                        <a:rPr lang="de-DE" sz="1200" dirty="0" smtClean="0"/>
                        <a:t> </a:t>
                      </a:r>
                      <a:r>
                        <a:rPr lang="de-DE" sz="12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Cloud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Hybrid</a:t>
                      </a:r>
                      <a:endParaRPr lang="de-DE" sz="1200" dirty="0"/>
                    </a:p>
                  </a:txBody>
                  <a:tcPr>
                    <a:noFill/>
                  </a:tcPr>
                </a:tc>
              </a:tr>
              <a:tr h="498378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Financial </a:t>
                      </a:r>
                      <a:r>
                        <a:rPr lang="de-DE" sz="1400" dirty="0" err="1" smtClean="0"/>
                        <a:t>Accounting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lang="de-DE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 smtClean="0">
                          <a:solidFill>
                            <a:srgbClr val="FFFFFF"/>
                          </a:solidFill>
                        </a:rPr>
                        <a:t>Local</a:t>
                      </a:r>
                      <a:r>
                        <a:rPr lang="de-DE" sz="1200" dirty="0" smtClean="0">
                          <a:solidFill>
                            <a:srgbClr val="FFFFFF"/>
                          </a:solidFill>
                        </a:rPr>
                        <a:t> Provider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Public </a:t>
                      </a:r>
                      <a:r>
                        <a:rPr lang="de-DE" sz="1200" dirty="0" err="1" smtClean="0"/>
                        <a:t>Cloud</a:t>
                      </a:r>
                      <a:endParaRPr lang="de-DE" sz="1200" dirty="0"/>
                    </a:p>
                  </a:txBody>
                  <a:tcPr>
                    <a:noFill/>
                  </a:tcPr>
                </a:tc>
              </a:tr>
              <a:tr h="472065"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Payroll</a:t>
                      </a:r>
                      <a:endParaRPr lang="de-DE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Client-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encryption</a:t>
                      </a:r>
                      <a:endParaRPr lang="de-DE" sz="1200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de-DE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PKI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 smtClean="0">
                          <a:solidFill>
                            <a:srgbClr val="FFFFFF"/>
                          </a:solidFill>
                        </a:rPr>
                        <a:t>Local</a:t>
                      </a:r>
                      <a:r>
                        <a:rPr lang="de-DE" sz="1200" dirty="0" smtClean="0">
                          <a:solidFill>
                            <a:srgbClr val="FFFFFF"/>
                          </a:solidFill>
                        </a:rPr>
                        <a:t> Provider</a:t>
                      </a:r>
                      <a:endParaRPr lang="de-DE"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 smtClean="0"/>
                        <a:t>Local</a:t>
                      </a:r>
                      <a:r>
                        <a:rPr lang="de-DE" sz="1200" dirty="0" smtClean="0"/>
                        <a:t> Public </a:t>
                      </a:r>
                      <a:r>
                        <a:rPr lang="de-DE" sz="1200" dirty="0" err="1" smtClean="0"/>
                        <a:t>Cloud</a:t>
                      </a:r>
                      <a:endParaRPr lang="de-DE" sz="1200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ahmen 7"/>
          <p:cNvSpPr/>
          <p:nvPr/>
        </p:nvSpPr>
        <p:spPr>
          <a:xfrm>
            <a:off x="1307254" y="4686049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ahmen 20"/>
          <p:cNvSpPr/>
          <p:nvPr/>
        </p:nvSpPr>
        <p:spPr>
          <a:xfrm>
            <a:off x="1307254" y="413773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ahmen 21"/>
          <p:cNvSpPr/>
          <p:nvPr/>
        </p:nvSpPr>
        <p:spPr>
          <a:xfrm>
            <a:off x="1307254" y="3655988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ahmen 22"/>
          <p:cNvSpPr/>
          <p:nvPr/>
        </p:nvSpPr>
        <p:spPr>
          <a:xfrm>
            <a:off x="1307254" y="2692501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ahmen 23"/>
          <p:cNvSpPr/>
          <p:nvPr/>
        </p:nvSpPr>
        <p:spPr>
          <a:xfrm>
            <a:off x="1307254" y="2232655"/>
            <a:ext cx="317719" cy="30656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9" name="Bild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9071" y="3212270"/>
            <a:ext cx="375902" cy="325990"/>
          </a:xfrm>
          <a:prstGeom prst="rect">
            <a:avLst/>
          </a:prstGeom>
        </p:spPr>
      </p:pic>
      <p:pic>
        <p:nvPicPr>
          <p:cNvPr id="20" name="Bild 1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6639" y="2256378"/>
            <a:ext cx="375902" cy="325990"/>
          </a:xfrm>
          <a:prstGeom prst="rect">
            <a:avLst/>
          </a:prstGeom>
        </p:spPr>
      </p:pic>
      <p:pic>
        <p:nvPicPr>
          <p:cNvPr id="25" name="Bild 2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6639" y="2716224"/>
            <a:ext cx="375902" cy="325990"/>
          </a:xfrm>
          <a:prstGeom prst="rect">
            <a:avLst/>
          </a:prstGeom>
        </p:spPr>
      </p:pic>
      <p:pic>
        <p:nvPicPr>
          <p:cNvPr id="26" name="Bild 2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0417" y="3671234"/>
            <a:ext cx="375902" cy="32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5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372553" y="206087"/>
            <a:ext cx="5654326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Migration to the Cloud</a:t>
            </a:r>
            <a:endParaRPr lang="en-US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298511" y="6206400"/>
            <a:ext cx="8628444" cy="469586"/>
            <a:chOff x="298511" y="6206400"/>
            <a:chExt cx="8628444" cy="469586"/>
          </a:xfrm>
        </p:grpSpPr>
        <p:grpSp>
          <p:nvGrpSpPr>
            <p:cNvPr id="4" name="Group 3"/>
            <p:cNvGrpSpPr/>
            <p:nvPr/>
          </p:nvGrpSpPr>
          <p:grpSpPr>
            <a:xfrm>
              <a:off x="336774" y="6206400"/>
              <a:ext cx="8576070" cy="469586"/>
              <a:chOff x="336774" y="6206400"/>
              <a:chExt cx="7284545" cy="469586"/>
            </a:xfrm>
          </p:grpSpPr>
          <p:sp>
            <p:nvSpPr>
              <p:cNvPr id="32" name="Notched Right Arrow 3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Notched Right Arrow 3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Notched Right Arrow 3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Notched Right Arrow 1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Notched Right Arrow 1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Notched Right Arrow 29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98511" y="6269051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Overview                          Models                        Challenges	  Portfolio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Migration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4203" y="1289382"/>
            <a:ext cx="6965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The 4-step migration approach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5" name="Diagramm 4"/>
          <p:cNvGraphicFramePr/>
          <p:nvPr>
            <p:extLst>
              <p:ext uri="{D42A27DB-BD31-4B8C-83A1-F6EECF244321}">
                <p14:modId xmlns:p14="http://schemas.microsoft.com/office/powerpoint/2010/main" val="1614809103"/>
              </p:ext>
            </p:extLst>
          </p:nvPr>
        </p:nvGraphicFramePr>
        <p:xfrm>
          <a:off x="435520" y="2271889"/>
          <a:ext cx="8242813" cy="2652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3346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372553" y="206087"/>
            <a:ext cx="5654326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Migration to the Cloud</a:t>
            </a:r>
            <a:endParaRPr lang="en-US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298511" y="6206400"/>
            <a:ext cx="8628444" cy="469586"/>
            <a:chOff x="298511" y="6206400"/>
            <a:chExt cx="8628444" cy="469586"/>
          </a:xfrm>
        </p:grpSpPr>
        <p:grpSp>
          <p:nvGrpSpPr>
            <p:cNvPr id="4" name="Group 3"/>
            <p:cNvGrpSpPr/>
            <p:nvPr/>
          </p:nvGrpSpPr>
          <p:grpSpPr>
            <a:xfrm>
              <a:off x="336774" y="6206400"/>
              <a:ext cx="8576070" cy="469586"/>
              <a:chOff x="336774" y="6206400"/>
              <a:chExt cx="7284545" cy="469586"/>
            </a:xfrm>
          </p:grpSpPr>
          <p:sp>
            <p:nvSpPr>
              <p:cNvPr id="32" name="Notched Right Arrow 3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Notched Right Arrow 3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Notched Right Arrow 3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Notched Right Arrow 1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Notched Right Arrow 1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Notched Right Arrow 29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98511" y="6269051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Overview                          Models                        Challenges	  Portfolio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Migration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4203" y="1289382"/>
            <a:ext cx="6965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The 4-step migration approach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4496" y="2360784"/>
            <a:ext cx="28728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b="1" dirty="0" smtClean="0">
                <a:solidFill>
                  <a:schemeClr val="tx2"/>
                </a:solidFill>
              </a:rPr>
              <a:t>Reference Architecture</a:t>
            </a:r>
            <a:r>
              <a:rPr lang="en-IN" b="1" dirty="0">
                <a:solidFill>
                  <a:schemeClr val="tx2"/>
                </a:solidFill>
              </a:rPr>
              <a:t/>
            </a:r>
            <a:br>
              <a:rPr lang="en-IN" b="1" dirty="0">
                <a:solidFill>
                  <a:schemeClr val="tx2"/>
                </a:solidFill>
              </a:rPr>
            </a:br>
            <a:r>
              <a:rPr lang="en-IN" dirty="0" smtClean="0">
                <a:solidFill>
                  <a:schemeClr val="tx2"/>
                </a:solidFill>
              </a:rPr>
              <a:t>(Business and Technical)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IN" dirty="0" smtClean="0">
                <a:solidFill>
                  <a:schemeClr val="tx2"/>
                </a:solidFill>
              </a:rPr>
              <a:t> </a:t>
            </a:r>
            <a:endParaRPr lang="en-US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b="1" dirty="0" smtClean="0">
                <a:solidFill>
                  <a:schemeClr val="tx2"/>
                </a:solidFill>
              </a:rPr>
              <a:t>Cloud Services</a:t>
            </a:r>
            <a:r>
              <a:rPr lang="en-IN" b="1" dirty="0">
                <a:solidFill>
                  <a:schemeClr val="tx2"/>
                </a:solidFill>
              </a:rPr>
              <a:t/>
            </a:r>
            <a:br>
              <a:rPr lang="en-IN" b="1" dirty="0">
                <a:solidFill>
                  <a:schemeClr val="tx2"/>
                </a:solidFill>
              </a:rPr>
            </a:br>
            <a:r>
              <a:rPr lang="en-IN" dirty="0" smtClean="0">
                <a:solidFill>
                  <a:schemeClr val="tx2"/>
                </a:solidFill>
              </a:rPr>
              <a:t>(SaaS, PaaS, IaaS)</a:t>
            </a:r>
            <a:br>
              <a:rPr lang="en-IN" dirty="0" smtClean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b="1" dirty="0" smtClean="0">
                <a:solidFill>
                  <a:schemeClr val="tx2"/>
                </a:solidFill>
              </a:rPr>
              <a:t>Cloud Type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IN" dirty="0" smtClean="0">
                <a:solidFill>
                  <a:schemeClr val="tx2"/>
                </a:solidFill>
              </a:rPr>
              <a:t>(Public, Private, Hybrid)</a:t>
            </a:r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5" name="Gruppierung 14"/>
          <p:cNvGrpSpPr/>
          <p:nvPr/>
        </p:nvGrpSpPr>
        <p:grpSpPr>
          <a:xfrm>
            <a:off x="703896" y="2981703"/>
            <a:ext cx="1583763" cy="950257"/>
            <a:chOff x="3622" y="851315"/>
            <a:chExt cx="1583763" cy="950257"/>
          </a:xfrm>
        </p:grpSpPr>
        <p:sp>
          <p:nvSpPr>
            <p:cNvPr id="16" name="Abgerundetes Rechteck 15"/>
            <p:cNvSpPr/>
            <p:nvPr/>
          </p:nvSpPr>
          <p:spPr>
            <a:xfrm>
              <a:off x="3622" y="851315"/>
              <a:ext cx="1583763" cy="95025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Abgerundetes Rechteck 4"/>
            <p:cNvSpPr/>
            <p:nvPr/>
          </p:nvSpPr>
          <p:spPr>
            <a:xfrm>
              <a:off x="31454" y="879147"/>
              <a:ext cx="1528099" cy="8945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200" kern="1200" dirty="0" err="1" smtClean="0"/>
                <a:t>Planning</a:t>
              </a:r>
              <a:endParaRPr lang="de-DE" sz="2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3321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372553" y="206087"/>
            <a:ext cx="5654326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Migration to the Cloud</a:t>
            </a:r>
            <a:endParaRPr lang="en-US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298511" y="6206400"/>
            <a:ext cx="8628444" cy="469586"/>
            <a:chOff x="298511" y="6206400"/>
            <a:chExt cx="8628444" cy="469586"/>
          </a:xfrm>
        </p:grpSpPr>
        <p:grpSp>
          <p:nvGrpSpPr>
            <p:cNvPr id="4" name="Group 3"/>
            <p:cNvGrpSpPr/>
            <p:nvPr/>
          </p:nvGrpSpPr>
          <p:grpSpPr>
            <a:xfrm>
              <a:off x="336774" y="6206400"/>
              <a:ext cx="8576070" cy="469586"/>
              <a:chOff x="336774" y="6206400"/>
              <a:chExt cx="7284545" cy="469586"/>
            </a:xfrm>
          </p:grpSpPr>
          <p:sp>
            <p:nvSpPr>
              <p:cNvPr id="32" name="Notched Right Arrow 3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Notched Right Arrow 3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Notched Right Arrow 3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Notched Right Arrow 1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Notched Right Arrow 1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Notched Right Arrow 29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98511" y="6269051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Overview                          Models                        Challenges	  Portfolio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Migration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4203" y="1289382"/>
            <a:ext cx="6965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The 4-step migration approach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4496" y="2377072"/>
            <a:ext cx="39765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 smtClean="0">
                <a:solidFill>
                  <a:schemeClr val="tx2"/>
                </a:solidFill>
              </a:rPr>
              <a:t>Security Issues</a:t>
            </a:r>
            <a:endParaRPr lang="en-IN" b="1" u="sng" dirty="0" smtClean="0">
              <a:solidFill>
                <a:schemeClr val="tx2"/>
              </a:solidFill>
            </a:endParaRPr>
          </a:p>
          <a:p>
            <a:pPr algn="just"/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Lack of knowledge of data hierarchy, access control and data policies</a:t>
            </a:r>
            <a:br>
              <a:rPr lang="en-IN" dirty="0" smtClean="0">
                <a:solidFill>
                  <a:schemeClr val="tx2"/>
                </a:solidFill>
              </a:rPr>
            </a:br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Suitable model for specific application/data</a:t>
            </a:r>
            <a:br>
              <a:rPr lang="en-IN" dirty="0" smtClean="0">
                <a:solidFill>
                  <a:schemeClr val="tx2"/>
                </a:solidFill>
              </a:rPr>
            </a:br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Right vendor</a:t>
            </a:r>
          </a:p>
        </p:txBody>
      </p:sp>
      <p:grpSp>
        <p:nvGrpSpPr>
          <p:cNvPr id="16" name="Gruppierung 15"/>
          <p:cNvGrpSpPr/>
          <p:nvPr/>
        </p:nvGrpSpPr>
        <p:grpSpPr>
          <a:xfrm>
            <a:off x="703896" y="2995814"/>
            <a:ext cx="1583763" cy="950257"/>
            <a:chOff x="3622" y="851315"/>
            <a:chExt cx="1583763" cy="950257"/>
          </a:xfrm>
        </p:grpSpPr>
        <p:sp>
          <p:nvSpPr>
            <p:cNvPr id="17" name="Abgerundetes Rechteck 16"/>
            <p:cNvSpPr/>
            <p:nvPr/>
          </p:nvSpPr>
          <p:spPr>
            <a:xfrm>
              <a:off x="3622" y="851315"/>
              <a:ext cx="1583763" cy="95025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Abgerundetes Rechteck 4"/>
            <p:cNvSpPr/>
            <p:nvPr/>
          </p:nvSpPr>
          <p:spPr>
            <a:xfrm>
              <a:off x="31454" y="879147"/>
              <a:ext cx="1528099" cy="8945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200" kern="1200" dirty="0" err="1" smtClean="0"/>
                <a:t>Planning</a:t>
              </a:r>
              <a:endParaRPr lang="de-DE" sz="2200" kern="1200" dirty="0"/>
            </a:p>
          </p:txBody>
        </p:sp>
      </p:grpSp>
      <p:pic>
        <p:nvPicPr>
          <p:cNvPr id="5" name="Bild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9916" l="9953" r="89100">
                        <a14:foregroundMark x1="22275" y1="17647" x2="22275" y2="17647"/>
                        <a14:foregroundMark x1="32227" y1="11345" x2="32227" y2="11345"/>
                        <a14:foregroundMark x1="23697" y1="34034" x2="23697" y2="34034"/>
                        <a14:foregroundMark x1="72986" y1="13866" x2="72986" y2="13866"/>
                        <a14:foregroundMark x1="82464" y1="32353" x2="82464" y2="32353"/>
                        <a14:foregroundMark x1="77725" y1="37395" x2="77725" y2="37395"/>
                        <a14:foregroundMark x1="67773" y1="11765" x2="67773" y2="11765"/>
                        <a14:foregroundMark x1="62085" y1="5882" x2="62085" y2="5882"/>
                        <a14:foregroundMark x1="34597" y1="7143" x2="34597" y2="7143"/>
                        <a14:foregroundMark x1="41706" y1="3361" x2="41706" y2="3361"/>
                        <a14:foregroundMark x1="27488" y1="13025" x2="27488" y2="130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2550" y="3332487"/>
            <a:ext cx="761119" cy="85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372553" y="206087"/>
            <a:ext cx="5654326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Migration to the Cloud</a:t>
            </a:r>
            <a:endParaRPr lang="en-US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298511" y="6206400"/>
            <a:ext cx="8628444" cy="469586"/>
            <a:chOff x="298511" y="6206400"/>
            <a:chExt cx="8628444" cy="469586"/>
          </a:xfrm>
        </p:grpSpPr>
        <p:grpSp>
          <p:nvGrpSpPr>
            <p:cNvPr id="4" name="Group 3"/>
            <p:cNvGrpSpPr/>
            <p:nvPr/>
          </p:nvGrpSpPr>
          <p:grpSpPr>
            <a:xfrm>
              <a:off x="336774" y="6206400"/>
              <a:ext cx="8576070" cy="469586"/>
              <a:chOff x="336774" y="6206400"/>
              <a:chExt cx="7284545" cy="469586"/>
            </a:xfrm>
          </p:grpSpPr>
          <p:sp>
            <p:nvSpPr>
              <p:cNvPr id="32" name="Notched Right Arrow 3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Notched Right Arrow 3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Notched Right Arrow 3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Notched Right Arrow 1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Notched Right Arrow 1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Notched Right Arrow 29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98511" y="6269051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Overview                          Models                        Challenges	  Portfolio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Migration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4203" y="1289382"/>
            <a:ext cx="6965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The 4-step migration approach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4496" y="2377072"/>
            <a:ext cx="38584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rgbClr val="1F497D"/>
                </a:solidFill>
              </a:rPr>
              <a:t>Identifying suitable vendor (cloud service provider)</a:t>
            </a:r>
            <a:r>
              <a:rPr lang="en-US" dirty="0">
                <a:solidFill>
                  <a:srgbClr val="1F497D"/>
                </a:solidFill>
              </a:rPr>
              <a:t/>
            </a:r>
            <a:br>
              <a:rPr lang="en-US" dirty="0">
                <a:solidFill>
                  <a:srgbClr val="1F497D"/>
                </a:solidFill>
              </a:rPr>
            </a:br>
            <a:endParaRPr lang="en-US" dirty="0" smtClean="0">
              <a:solidFill>
                <a:srgbClr val="1F497D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rgbClr val="1F497D"/>
                </a:solidFill>
              </a:rPr>
              <a:t>Service Level Agreements (SLAs)</a:t>
            </a:r>
            <a:r>
              <a:rPr lang="en-US" dirty="0">
                <a:solidFill>
                  <a:srgbClr val="1F497D"/>
                </a:solidFill>
              </a:rPr>
              <a:t/>
            </a:r>
            <a:br>
              <a:rPr lang="en-US" dirty="0">
                <a:solidFill>
                  <a:srgbClr val="1F497D"/>
                </a:solidFill>
              </a:rPr>
            </a:br>
            <a:endParaRPr lang="en-US" dirty="0" smtClean="0">
              <a:solidFill>
                <a:srgbClr val="1F497D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rgbClr val="1F497D"/>
                </a:solidFill>
              </a:rPr>
              <a:t>Identifying the </a:t>
            </a:r>
            <a:r>
              <a:rPr lang="en-IN" dirty="0">
                <a:solidFill>
                  <a:srgbClr val="1F497D"/>
                </a:solidFill>
              </a:rPr>
              <a:t>a</a:t>
            </a:r>
            <a:r>
              <a:rPr lang="en-IN" dirty="0" smtClean="0">
                <a:solidFill>
                  <a:srgbClr val="1F497D"/>
                </a:solidFill>
              </a:rPr>
              <a:t>vailability of technical support and back-up services.</a:t>
            </a:r>
            <a:endParaRPr lang="en-US" dirty="0">
              <a:solidFill>
                <a:srgbClr val="1F497D"/>
              </a:solidFill>
            </a:endParaRPr>
          </a:p>
        </p:txBody>
      </p:sp>
      <p:grpSp>
        <p:nvGrpSpPr>
          <p:cNvPr id="16" name="Gruppierung 15"/>
          <p:cNvGrpSpPr/>
          <p:nvPr/>
        </p:nvGrpSpPr>
        <p:grpSpPr>
          <a:xfrm>
            <a:off x="703896" y="2981703"/>
            <a:ext cx="1583763" cy="950257"/>
            <a:chOff x="3622" y="851315"/>
            <a:chExt cx="1583763" cy="950257"/>
          </a:xfrm>
        </p:grpSpPr>
        <p:sp>
          <p:nvSpPr>
            <p:cNvPr id="17" name="Abgerundetes Rechteck 16"/>
            <p:cNvSpPr/>
            <p:nvPr/>
          </p:nvSpPr>
          <p:spPr>
            <a:xfrm>
              <a:off x="3622" y="851315"/>
              <a:ext cx="1583763" cy="95025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Abgerundetes Rechteck 4"/>
            <p:cNvSpPr/>
            <p:nvPr/>
          </p:nvSpPr>
          <p:spPr>
            <a:xfrm>
              <a:off x="31454" y="879147"/>
              <a:ext cx="1528099" cy="8945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200" kern="1200" dirty="0" err="1" smtClean="0"/>
                <a:t>Planning</a:t>
              </a:r>
              <a:endParaRPr lang="de-DE" sz="2200" kern="1200" dirty="0"/>
            </a:p>
          </p:txBody>
        </p:sp>
      </p:grpSp>
      <p:grpSp>
        <p:nvGrpSpPr>
          <p:cNvPr id="21" name="Gruppierung 20"/>
          <p:cNvGrpSpPr/>
          <p:nvPr/>
        </p:nvGrpSpPr>
        <p:grpSpPr>
          <a:xfrm>
            <a:off x="703895" y="2981704"/>
            <a:ext cx="1583763" cy="978088"/>
            <a:chOff x="2220890" y="851315"/>
            <a:chExt cx="1583763" cy="950257"/>
          </a:xfrm>
        </p:grpSpPr>
        <p:sp>
          <p:nvSpPr>
            <p:cNvPr id="22" name="Abgerundetes Rechteck 21"/>
            <p:cNvSpPr/>
            <p:nvPr/>
          </p:nvSpPr>
          <p:spPr>
            <a:xfrm>
              <a:off x="2220890" y="851315"/>
              <a:ext cx="1583763" cy="95025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bgerundetes Rechteck 4"/>
            <p:cNvSpPr/>
            <p:nvPr/>
          </p:nvSpPr>
          <p:spPr>
            <a:xfrm>
              <a:off x="2248722" y="879147"/>
              <a:ext cx="1528099" cy="8945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200" kern="1200" dirty="0" err="1" smtClean="0"/>
                <a:t>Negotiation</a:t>
              </a:r>
              <a:endParaRPr lang="de-DE" sz="2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1935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372553" y="206087"/>
            <a:ext cx="5654326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Migration to the Cloud</a:t>
            </a:r>
            <a:endParaRPr lang="en-US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298511" y="6206400"/>
            <a:ext cx="8628444" cy="469586"/>
            <a:chOff x="298511" y="6206400"/>
            <a:chExt cx="8628444" cy="469586"/>
          </a:xfrm>
        </p:grpSpPr>
        <p:grpSp>
          <p:nvGrpSpPr>
            <p:cNvPr id="4" name="Group 3"/>
            <p:cNvGrpSpPr/>
            <p:nvPr/>
          </p:nvGrpSpPr>
          <p:grpSpPr>
            <a:xfrm>
              <a:off x="336774" y="6206400"/>
              <a:ext cx="8576070" cy="469586"/>
              <a:chOff x="336774" y="6206400"/>
              <a:chExt cx="7284545" cy="469586"/>
            </a:xfrm>
          </p:grpSpPr>
          <p:sp>
            <p:nvSpPr>
              <p:cNvPr id="32" name="Notched Right Arrow 3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Notched Right Arrow 3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Notched Right Arrow 3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Notched Right Arrow 1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Notched Right Arrow 1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Notched Right Arrow 29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98511" y="6269051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Overview                          Models                        Challenges	  Portfolio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Migration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4203" y="1289382"/>
            <a:ext cx="6965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The 4-step migration approach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4496" y="2377072"/>
            <a:ext cx="3976581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Security Issues</a:t>
            </a:r>
          </a:p>
          <a:p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Vendor certification</a:t>
            </a:r>
            <a:br>
              <a:rPr lang="en-IN" dirty="0" smtClean="0">
                <a:solidFill>
                  <a:schemeClr val="tx2"/>
                </a:solidFill>
              </a:rPr>
            </a:br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Vendor compliant with company security policies</a:t>
            </a:r>
            <a:br>
              <a:rPr lang="en-IN" dirty="0" smtClean="0">
                <a:solidFill>
                  <a:schemeClr val="tx2"/>
                </a:solidFill>
              </a:rPr>
            </a:br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Knowing the architecture and technology of vendor to create failsafe procedures</a:t>
            </a:r>
          </a:p>
        </p:txBody>
      </p:sp>
      <p:grpSp>
        <p:nvGrpSpPr>
          <p:cNvPr id="24" name="Gruppierung 23"/>
          <p:cNvGrpSpPr/>
          <p:nvPr/>
        </p:nvGrpSpPr>
        <p:grpSpPr>
          <a:xfrm>
            <a:off x="703895" y="2981704"/>
            <a:ext cx="1583763" cy="978088"/>
            <a:chOff x="2220890" y="851315"/>
            <a:chExt cx="1583763" cy="950257"/>
          </a:xfrm>
        </p:grpSpPr>
        <p:sp>
          <p:nvSpPr>
            <p:cNvPr id="25" name="Abgerundetes Rechteck 24"/>
            <p:cNvSpPr/>
            <p:nvPr/>
          </p:nvSpPr>
          <p:spPr>
            <a:xfrm>
              <a:off x="2220890" y="851315"/>
              <a:ext cx="1583763" cy="95025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Abgerundetes Rechteck 4"/>
            <p:cNvSpPr/>
            <p:nvPr/>
          </p:nvSpPr>
          <p:spPr>
            <a:xfrm>
              <a:off x="2248722" y="879147"/>
              <a:ext cx="1528099" cy="8945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200" kern="1200" dirty="0" err="1" smtClean="0"/>
                <a:t>Negotiation</a:t>
              </a:r>
              <a:endParaRPr lang="de-DE" sz="2200" kern="1200" dirty="0"/>
            </a:p>
          </p:txBody>
        </p:sp>
      </p:grpSp>
      <p:pic>
        <p:nvPicPr>
          <p:cNvPr id="27" name="Bild 2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9916" l="9953" r="89100">
                        <a14:foregroundMark x1="22275" y1="17647" x2="22275" y2="17647"/>
                        <a14:foregroundMark x1="32227" y1="11345" x2="32227" y2="11345"/>
                        <a14:foregroundMark x1="23697" y1="34034" x2="23697" y2="34034"/>
                        <a14:foregroundMark x1="72986" y1="13866" x2="72986" y2="13866"/>
                        <a14:foregroundMark x1="82464" y1="32353" x2="82464" y2="32353"/>
                        <a14:foregroundMark x1="77725" y1="37395" x2="77725" y2="37395"/>
                        <a14:foregroundMark x1="67773" y1="11765" x2="67773" y2="11765"/>
                        <a14:foregroundMark x1="62085" y1="5882" x2="62085" y2="5882"/>
                        <a14:foregroundMark x1="34597" y1="7143" x2="34597" y2="7143"/>
                        <a14:foregroundMark x1="41706" y1="3361" x2="41706" y2="3361"/>
                        <a14:foregroundMark x1="27488" y1="13025" x2="27488" y2="130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2550" y="3332487"/>
            <a:ext cx="761119" cy="85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7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372553" y="206087"/>
            <a:ext cx="5654326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Migration to the Cloud</a:t>
            </a:r>
            <a:endParaRPr lang="en-US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298511" y="6206400"/>
            <a:ext cx="8628444" cy="469586"/>
            <a:chOff x="298511" y="6206400"/>
            <a:chExt cx="8628444" cy="469586"/>
          </a:xfrm>
        </p:grpSpPr>
        <p:grpSp>
          <p:nvGrpSpPr>
            <p:cNvPr id="4" name="Group 3"/>
            <p:cNvGrpSpPr/>
            <p:nvPr/>
          </p:nvGrpSpPr>
          <p:grpSpPr>
            <a:xfrm>
              <a:off x="336774" y="6206400"/>
              <a:ext cx="8576070" cy="469586"/>
              <a:chOff x="336774" y="6206400"/>
              <a:chExt cx="7284545" cy="469586"/>
            </a:xfrm>
          </p:grpSpPr>
          <p:sp>
            <p:nvSpPr>
              <p:cNvPr id="32" name="Notched Right Arrow 3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Notched Right Arrow 3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Notched Right Arrow 3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Notched Right Arrow 1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Notched Right Arrow 1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Notched Right Arrow 29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98511" y="6269051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Overview                          Models                        Challenges	  Portfolio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Migration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4203" y="1289382"/>
            <a:ext cx="6965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The 4-step migration approach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4496" y="2377072"/>
            <a:ext cx="28728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rgbClr val="1F497D"/>
                </a:solidFill>
              </a:rPr>
              <a:t>Estimate cloud migration effort</a:t>
            </a:r>
            <a:r>
              <a:rPr lang="en-US" dirty="0">
                <a:solidFill>
                  <a:srgbClr val="1F497D"/>
                </a:solidFill>
              </a:rPr>
              <a:t/>
            </a:r>
            <a:br>
              <a:rPr lang="en-US" dirty="0">
                <a:solidFill>
                  <a:srgbClr val="1F497D"/>
                </a:solidFill>
              </a:rPr>
            </a:br>
            <a:endParaRPr lang="en-US" dirty="0" smtClean="0">
              <a:solidFill>
                <a:srgbClr val="1F497D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rgbClr val="1F497D"/>
                </a:solidFill>
              </a:rPr>
              <a:t>Migrate the easy ones first and then the complex ones</a:t>
            </a:r>
            <a:br>
              <a:rPr lang="en-IN" dirty="0" smtClean="0">
                <a:solidFill>
                  <a:srgbClr val="1F497D"/>
                </a:solidFill>
              </a:rPr>
            </a:br>
            <a:endParaRPr lang="en-US" dirty="0" smtClean="0">
              <a:solidFill>
                <a:srgbClr val="1F497D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rgbClr val="1F497D"/>
                </a:solidFill>
              </a:rPr>
              <a:t>Deploy and test the application (Scaling up and down, monitoring performance)</a:t>
            </a:r>
            <a:endParaRPr lang="en-US" dirty="0">
              <a:solidFill>
                <a:srgbClr val="1F497D"/>
              </a:solidFill>
            </a:endParaRPr>
          </a:p>
        </p:txBody>
      </p:sp>
      <p:grpSp>
        <p:nvGrpSpPr>
          <p:cNvPr id="21" name="Gruppierung 20"/>
          <p:cNvGrpSpPr/>
          <p:nvPr/>
        </p:nvGrpSpPr>
        <p:grpSpPr>
          <a:xfrm>
            <a:off x="703895" y="3009535"/>
            <a:ext cx="1583763" cy="950257"/>
            <a:chOff x="4438159" y="851315"/>
            <a:chExt cx="1583763" cy="950257"/>
          </a:xfrm>
        </p:grpSpPr>
        <p:sp>
          <p:nvSpPr>
            <p:cNvPr id="22" name="Abgerundetes Rechteck 21"/>
            <p:cNvSpPr/>
            <p:nvPr/>
          </p:nvSpPr>
          <p:spPr>
            <a:xfrm>
              <a:off x="4438159" y="851315"/>
              <a:ext cx="1583763" cy="95025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bgerundetes Rechteck 4"/>
            <p:cNvSpPr/>
            <p:nvPr/>
          </p:nvSpPr>
          <p:spPr>
            <a:xfrm>
              <a:off x="4465991" y="879147"/>
              <a:ext cx="1528099" cy="8945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200" kern="1200" dirty="0" smtClean="0"/>
                <a:t>Migration</a:t>
              </a:r>
              <a:endParaRPr lang="de-DE" sz="2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61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372553" y="206087"/>
            <a:ext cx="5654326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Migration to the Cloud</a:t>
            </a:r>
            <a:endParaRPr lang="en-US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298511" y="6206400"/>
            <a:ext cx="8628444" cy="469586"/>
            <a:chOff x="298511" y="6206400"/>
            <a:chExt cx="8628444" cy="469586"/>
          </a:xfrm>
        </p:grpSpPr>
        <p:grpSp>
          <p:nvGrpSpPr>
            <p:cNvPr id="4" name="Group 3"/>
            <p:cNvGrpSpPr/>
            <p:nvPr/>
          </p:nvGrpSpPr>
          <p:grpSpPr>
            <a:xfrm>
              <a:off x="336774" y="6206400"/>
              <a:ext cx="8576070" cy="469586"/>
              <a:chOff x="336774" y="6206400"/>
              <a:chExt cx="7284545" cy="469586"/>
            </a:xfrm>
          </p:grpSpPr>
          <p:sp>
            <p:nvSpPr>
              <p:cNvPr id="32" name="Notched Right Arrow 3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Notched Right Arrow 3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Notched Right Arrow 3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Notched Right Arrow 1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Notched Right Arrow 1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Notched Right Arrow 29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98511" y="6269051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Overview                          Models                        Challenges	  Portfolio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Migration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4203" y="1289382"/>
            <a:ext cx="6965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The 4-step migration approach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80837" y="2399777"/>
            <a:ext cx="3976581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 smtClean="0">
                <a:solidFill>
                  <a:schemeClr val="tx2"/>
                </a:solidFill>
              </a:rPr>
              <a:t>Security Issues</a:t>
            </a:r>
          </a:p>
          <a:p>
            <a:pPr algn="just"/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Migration possible in secure manner and encrypted form</a:t>
            </a:r>
            <a:br>
              <a:rPr lang="en-IN" dirty="0" smtClean="0">
                <a:solidFill>
                  <a:schemeClr val="tx2"/>
                </a:solidFill>
              </a:rPr>
            </a:br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Vendor security policies for virtual and physical isolation </a:t>
            </a:r>
            <a:r>
              <a:rPr lang="en-IN" dirty="0">
                <a:solidFill>
                  <a:schemeClr val="tx2"/>
                </a:solidFill>
              </a:rPr>
              <a:t/>
            </a:r>
            <a:br>
              <a:rPr lang="en-IN" dirty="0">
                <a:solidFill>
                  <a:schemeClr val="tx2"/>
                </a:solidFill>
              </a:rPr>
            </a:br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Using firewall and access control mechanisms</a:t>
            </a:r>
          </a:p>
        </p:txBody>
      </p:sp>
      <p:grpSp>
        <p:nvGrpSpPr>
          <p:cNvPr id="21" name="Gruppierung 20"/>
          <p:cNvGrpSpPr/>
          <p:nvPr/>
        </p:nvGrpSpPr>
        <p:grpSpPr>
          <a:xfrm>
            <a:off x="703895" y="3009535"/>
            <a:ext cx="1583763" cy="950257"/>
            <a:chOff x="4438159" y="851315"/>
            <a:chExt cx="1583763" cy="950257"/>
          </a:xfrm>
        </p:grpSpPr>
        <p:sp>
          <p:nvSpPr>
            <p:cNvPr id="22" name="Abgerundetes Rechteck 21"/>
            <p:cNvSpPr/>
            <p:nvPr/>
          </p:nvSpPr>
          <p:spPr>
            <a:xfrm>
              <a:off x="4438159" y="851315"/>
              <a:ext cx="1583763" cy="95025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bgerundetes Rechteck 4"/>
            <p:cNvSpPr/>
            <p:nvPr/>
          </p:nvSpPr>
          <p:spPr>
            <a:xfrm>
              <a:off x="4465991" y="879147"/>
              <a:ext cx="1528099" cy="8945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200" kern="1200" dirty="0" smtClean="0"/>
                <a:t>Migration</a:t>
              </a:r>
              <a:endParaRPr lang="de-DE" sz="2200" kern="1200" dirty="0"/>
            </a:p>
          </p:txBody>
        </p:sp>
      </p:grpSp>
      <p:pic>
        <p:nvPicPr>
          <p:cNvPr id="24" name="Bild 2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9916" l="9953" r="89100">
                        <a14:foregroundMark x1="22275" y1="17647" x2="22275" y2="17647"/>
                        <a14:foregroundMark x1="32227" y1="11345" x2="32227" y2="11345"/>
                        <a14:foregroundMark x1="23697" y1="34034" x2="23697" y2="34034"/>
                        <a14:foregroundMark x1="72986" y1="13866" x2="72986" y2="13866"/>
                        <a14:foregroundMark x1="82464" y1="32353" x2="82464" y2="32353"/>
                        <a14:foregroundMark x1="77725" y1="37395" x2="77725" y2="37395"/>
                        <a14:foregroundMark x1="67773" y1="11765" x2="67773" y2="11765"/>
                        <a14:foregroundMark x1="62085" y1="5882" x2="62085" y2="5882"/>
                        <a14:foregroundMark x1="34597" y1="7143" x2="34597" y2="7143"/>
                        <a14:foregroundMark x1="41706" y1="3361" x2="41706" y2="3361"/>
                        <a14:foregroundMark x1="27488" y1="13025" x2="27488" y2="130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2550" y="3332487"/>
            <a:ext cx="761119" cy="85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6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372553" y="206087"/>
            <a:ext cx="5654326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Migration to the Cloud</a:t>
            </a:r>
            <a:endParaRPr lang="en-US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298511" y="6206400"/>
            <a:ext cx="8628444" cy="469586"/>
            <a:chOff x="298511" y="6206400"/>
            <a:chExt cx="8628444" cy="469586"/>
          </a:xfrm>
        </p:grpSpPr>
        <p:grpSp>
          <p:nvGrpSpPr>
            <p:cNvPr id="4" name="Group 3"/>
            <p:cNvGrpSpPr/>
            <p:nvPr/>
          </p:nvGrpSpPr>
          <p:grpSpPr>
            <a:xfrm>
              <a:off x="336774" y="6206400"/>
              <a:ext cx="8576070" cy="469586"/>
              <a:chOff x="336774" y="6206400"/>
              <a:chExt cx="7284545" cy="469586"/>
            </a:xfrm>
          </p:grpSpPr>
          <p:sp>
            <p:nvSpPr>
              <p:cNvPr id="32" name="Notched Right Arrow 3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Notched Right Arrow 3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Notched Right Arrow 3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Notched Right Arrow 1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Notched Right Arrow 1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Notched Right Arrow 29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98511" y="6269051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Overview                          Models                        Challenges	  Portfolio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Migration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4203" y="1289382"/>
            <a:ext cx="6965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The 4-step migration approach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80837" y="2387548"/>
            <a:ext cx="3832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1F497D"/>
                </a:solidFill>
              </a:rPr>
              <a:t>Cloud maintenance</a:t>
            </a:r>
          </a:p>
          <a:p>
            <a:endParaRPr lang="en-US" dirty="0" smtClean="0">
              <a:solidFill>
                <a:srgbClr val="1F497D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rgbClr val="1F497D"/>
                </a:solidFill>
              </a:rPr>
              <a:t>Monitor services (Servers, Storage and Network)</a:t>
            </a:r>
            <a:br>
              <a:rPr lang="en-IN" dirty="0" smtClean="0">
                <a:solidFill>
                  <a:srgbClr val="1F497D"/>
                </a:solidFill>
              </a:rPr>
            </a:br>
            <a:endParaRPr lang="en-US" dirty="0" smtClean="0">
              <a:solidFill>
                <a:srgbClr val="1F497D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rgbClr val="1F497D"/>
                </a:solidFill>
              </a:rPr>
              <a:t>Scaling Resources Up and Down</a:t>
            </a:r>
            <a:br>
              <a:rPr lang="en-IN" dirty="0" smtClean="0">
                <a:solidFill>
                  <a:srgbClr val="1F497D"/>
                </a:solidFill>
              </a:rPr>
            </a:br>
            <a:endParaRPr lang="en-US" dirty="0" smtClean="0">
              <a:solidFill>
                <a:srgbClr val="1F497D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rgbClr val="1F497D"/>
                </a:solidFill>
              </a:rPr>
              <a:t>Monitor Performance of apps</a:t>
            </a:r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18" name="Abgerundetes Rechteck 4"/>
          <p:cNvSpPr/>
          <p:nvPr/>
        </p:nvSpPr>
        <p:spPr>
          <a:xfrm>
            <a:off x="731728" y="3009535"/>
            <a:ext cx="1528099" cy="8945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3820" tIns="83820" rIns="83820" bIns="83820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sz="2200" kern="1200" dirty="0" err="1" smtClean="0"/>
              <a:t>Planning</a:t>
            </a:r>
            <a:endParaRPr lang="de-DE" sz="2200" kern="1200" dirty="0"/>
          </a:p>
        </p:txBody>
      </p:sp>
      <p:grpSp>
        <p:nvGrpSpPr>
          <p:cNvPr id="21" name="Gruppierung 20"/>
          <p:cNvGrpSpPr/>
          <p:nvPr/>
        </p:nvGrpSpPr>
        <p:grpSpPr>
          <a:xfrm>
            <a:off x="676064" y="3009535"/>
            <a:ext cx="1583763" cy="950257"/>
            <a:chOff x="6655427" y="851315"/>
            <a:chExt cx="1583763" cy="950257"/>
          </a:xfrm>
        </p:grpSpPr>
        <p:sp>
          <p:nvSpPr>
            <p:cNvPr id="22" name="Abgerundetes Rechteck 21"/>
            <p:cNvSpPr/>
            <p:nvPr/>
          </p:nvSpPr>
          <p:spPr>
            <a:xfrm>
              <a:off x="6655427" y="851315"/>
              <a:ext cx="1583763" cy="95025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bgerundetes Rechteck 4"/>
            <p:cNvSpPr/>
            <p:nvPr/>
          </p:nvSpPr>
          <p:spPr>
            <a:xfrm>
              <a:off x="6683259" y="879147"/>
              <a:ext cx="1528099" cy="8945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200" kern="1200" dirty="0" smtClean="0"/>
                <a:t>Operation</a:t>
              </a:r>
              <a:endParaRPr lang="de-DE" sz="2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9682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372553" y="206087"/>
            <a:ext cx="5654326" cy="792215"/>
          </a:xfrm>
        </p:spPr>
        <p:txBody>
          <a:bodyPr>
            <a:normAutofit/>
          </a:bodyPr>
          <a:lstStyle/>
          <a:p>
            <a:r>
              <a:rPr lang="en-US" b="1" dirty="0" smtClean="0"/>
              <a:t>Migration to the Cloud</a:t>
            </a:r>
            <a:endParaRPr lang="en-US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298511" y="6206400"/>
            <a:ext cx="8628444" cy="469586"/>
            <a:chOff x="298511" y="6206400"/>
            <a:chExt cx="8628444" cy="469586"/>
          </a:xfrm>
        </p:grpSpPr>
        <p:grpSp>
          <p:nvGrpSpPr>
            <p:cNvPr id="4" name="Group 3"/>
            <p:cNvGrpSpPr/>
            <p:nvPr/>
          </p:nvGrpSpPr>
          <p:grpSpPr>
            <a:xfrm>
              <a:off x="336774" y="6206400"/>
              <a:ext cx="8576070" cy="469586"/>
              <a:chOff x="336774" y="6206400"/>
              <a:chExt cx="7284545" cy="469586"/>
            </a:xfrm>
          </p:grpSpPr>
          <p:sp>
            <p:nvSpPr>
              <p:cNvPr id="32" name="Notched Right Arrow 31"/>
              <p:cNvSpPr/>
              <p:nvPr/>
            </p:nvSpPr>
            <p:spPr>
              <a:xfrm>
                <a:off x="3934164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Notched Right Arrow 32"/>
              <p:cNvSpPr/>
              <p:nvPr/>
            </p:nvSpPr>
            <p:spPr>
              <a:xfrm>
                <a:off x="5136221" y="6206960"/>
                <a:ext cx="1296000" cy="469026"/>
              </a:xfrm>
              <a:prstGeom prst="notchedRightArrow">
                <a:avLst/>
              </a:prstGeom>
              <a:solidFill>
                <a:schemeClr val="accent1">
                  <a:lumMod val="50000"/>
                  <a:alpha val="93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Notched Right Arrow 33"/>
              <p:cNvSpPr/>
              <p:nvPr/>
            </p:nvSpPr>
            <p:spPr>
              <a:xfrm>
                <a:off x="6325319" y="620696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Notched Right Arrow 18"/>
              <p:cNvSpPr/>
              <p:nvPr/>
            </p:nvSpPr>
            <p:spPr>
              <a:xfrm>
                <a:off x="336774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Notched Right Arrow 19"/>
              <p:cNvSpPr/>
              <p:nvPr/>
            </p:nvSpPr>
            <p:spPr>
              <a:xfrm>
                <a:off x="1542061" y="6206400"/>
                <a:ext cx="1296000" cy="469026"/>
              </a:xfrm>
              <a:prstGeom prst="notchedRightArrow">
                <a:avLst/>
              </a:prstGeom>
              <a:solidFill>
                <a:schemeClr val="accent1">
                  <a:alpha val="9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Notched Right Arrow 29"/>
              <p:cNvSpPr/>
              <p:nvPr/>
            </p:nvSpPr>
            <p:spPr>
              <a:xfrm>
                <a:off x="2741566" y="6206400"/>
                <a:ext cx="1296000" cy="469026"/>
              </a:xfrm>
              <a:prstGeom prst="notched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98511" y="6269051"/>
              <a:ext cx="8628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 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Overview                          Models                        Challenges	  Portfolio                         </a:t>
              </a:r>
              <a:r>
                <a:rPr lang="en-US" sz="1200" b="1" dirty="0" smtClean="0">
                  <a:solidFill>
                    <a:srgbClr val="FFFFFF"/>
                  </a:solidFill>
                </a:rPr>
                <a:t>Migration</a:t>
              </a:r>
              <a:r>
                <a:rPr lang="en-US" sz="1200" dirty="0" smtClean="0">
                  <a:solidFill>
                    <a:srgbClr val="FFFFFF"/>
                  </a:solidFill>
                </a:rPr>
                <a:t>                  	  Conclusion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4203" y="1289382"/>
            <a:ext cx="69656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solidFill>
                  <a:schemeClr val="accent1">
                    <a:lumMod val="50000"/>
                  </a:schemeClr>
                </a:solidFill>
              </a:rPr>
              <a:t>The 4-step migration approach</a:t>
            </a: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80837" y="1974633"/>
            <a:ext cx="39765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 smtClean="0">
                <a:solidFill>
                  <a:schemeClr val="tx2"/>
                </a:solidFill>
              </a:rPr>
              <a:t>Security Issues</a:t>
            </a:r>
          </a:p>
          <a:p>
            <a:pPr marL="285750" indent="-285750" algn="just">
              <a:buFont typeface="Arial"/>
              <a:buChar char="•"/>
            </a:pPr>
            <a:endParaRPr lang="en-IN" b="1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Access control and secure user authentication </a:t>
            </a:r>
            <a:r>
              <a:rPr lang="en-IN" dirty="0">
                <a:solidFill>
                  <a:schemeClr val="tx2"/>
                </a:solidFill>
              </a:rPr>
              <a:t/>
            </a:r>
            <a:br>
              <a:rPr lang="en-IN" dirty="0">
                <a:solidFill>
                  <a:schemeClr val="tx2"/>
                </a:solidFill>
              </a:rPr>
            </a:br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Freedom to operate amongst different vendors and platforms</a:t>
            </a:r>
            <a:br>
              <a:rPr lang="en-IN" dirty="0" smtClean="0">
                <a:solidFill>
                  <a:schemeClr val="tx2"/>
                </a:solidFill>
              </a:rPr>
            </a:br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Information on impact of all new installations and updates</a:t>
            </a:r>
            <a:br>
              <a:rPr lang="en-IN" dirty="0" smtClean="0">
                <a:solidFill>
                  <a:schemeClr val="tx2"/>
                </a:solidFill>
              </a:rPr>
            </a:br>
            <a:endParaRPr lang="en-IN" dirty="0" smtClean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dirty="0" smtClean="0">
                <a:solidFill>
                  <a:schemeClr val="tx2"/>
                </a:solidFill>
              </a:rPr>
              <a:t>Stress–testing multiple instances of an application ensuring secure data transfer</a:t>
            </a:r>
            <a:endParaRPr lang="en-GB" dirty="0" smtClean="0">
              <a:solidFill>
                <a:schemeClr val="tx2"/>
              </a:solidFill>
            </a:endParaRPr>
          </a:p>
        </p:txBody>
      </p:sp>
      <p:grpSp>
        <p:nvGrpSpPr>
          <p:cNvPr id="21" name="Gruppierung 20"/>
          <p:cNvGrpSpPr/>
          <p:nvPr/>
        </p:nvGrpSpPr>
        <p:grpSpPr>
          <a:xfrm>
            <a:off x="676064" y="3009535"/>
            <a:ext cx="1583763" cy="950257"/>
            <a:chOff x="6655427" y="851315"/>
            <a:chExt cx="1583763" cy="950257"/>
          </a:xfrm>
        </p:grpSpPr>
        <p:sp>
          <p:nvSpPr>
            <p:cNvPr id="22" name="Abgerundetes Rechteck 21"/>
            <p:cNvSpPr/>
            <p:nvPr/>
          </p:nvSpPr>
          <p:spPr>
            <a:xfrm>
              <a:off x="6655427" y="851315"/>
              <a:ext cx="1583763" cy="95025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bgerundetes Rechteck 4"/>
            <p:cNvSpPr/>
            <p:nvPr/>
          </p:nvSpPr>
          <p:spPr>
            <a:xfrm>
              <a:off x="6683259" y="879147"/>
              <a:ext cx="1528099" cy="8945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200" kern="1200" dirty="0" smtClean="0"/>
                <a:t>Operation</a:t>
              </a:r>
              <a:endParaRPr lang="de-DE" sz="2200" kern="1200" dirty="0"/>
            </a:p>
          </p:txBody>
        </p:sp>
      </p:grpSp>
      <p:pic>
        <p:nvPicPr>
          <p:cNvPr id="24" name="Bild 2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9916" l="9953" r="89100">
                        <a14:foregroundMark x1="22275" y1="17647" x2="22275" y2="17647"/>
                        <a14:foregroundMark x1="32227" y1="11345" x2="32227" y2="11345"/>
                        <a14:foregroundMark x1="23697" y1="34034" x2="23697" y2="34034"/>
                        <a14:foregroundMark x1="72986" y1="13866" x2="72986" y2="13866"/>
                        <a14:foregroundMark x1="82464" y1="32353" x2="82464" y2="32353"/>
                        <a14:foregroundMark x1="77725" y1="37395" x2="77725" y2="37395"/>
                        <a14:foregroundMark x1="67773" y1="11765" x2="67773" y2="11765"/>
                        <a14:foregroundMark x1="62085" y1="5882" x2="62085" y2="5882"/>
                        <a14:foregroundMark x1="34597" y1="7143" x2="34597" y2="7143"/>
                        <a14:foregroundMark x1="41706" y1="3361" x2="41706" y2="3361"/>
                        <a14:foregroundMark x1="27488" y1="13025" x2="27488" y2="130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2550" y="3332487"/>
            <a:ext cx="761119" cy="85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4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36774" y="6206400"/>
            <a:ext cx="8576070" cy="469586"/>
            <a:chOff x="336774" y="6206400"/>
            <a:chExt cx="7284545" cy="469586"/>
          </a:xfrm>
        </p:grpSpPr>
        <p:sp>
          <p:nvSpPr>
            <p:cNvPr id="34" name="Notched Right Arrow 33"/>
            <p:cNvSpPr/>
            <p:nvPr/>
          </p:nvSpPr>
          <p:spPr>
            <a:xfrm>
              <a:off x="3934164" y="6206960"/>
              <a:ext cx="1296000" cy="469026"/>
            </a:xfrm>
            <a:prstGeom prst="notchedRightArrow">
              <a:avLst/>
            </a:prstGeom>
            <a:solidFill>
              <a:schemeClr val="accent1">
                <a:alpha val="93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Notched Right Arrow 34"/>
            <p:cNvSpPr/>
            <p:nvPr/>
          </p:nvSpPr>
          <p:spPr>
            <a:xfrm>
              <a:off x="5136221" y="6206960"/>
              <a:ext cx="1296000" cy="469026"/>
            </a:xfrm>
            <a:prstGeom prst="notchedRightArrow">
              <a:avLst/>
            </a:prstGeom>
            <a:solidFill>
              <a:schemeClr val="accent1">
                <a:alpha val="93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Notched Right Arrow 35"/>
            <p:cNvSpPr/>
            <p:nvPr/>
          </p:nvSpPr>
          <p:spPr>
            <a:xfrm>
              <a:off x="6325319" y="6206960"/>
              <a:ext cx="1296000" cy="469026"/>
            </a:xfrm>
            <a:prstGeom prst="notchedRightArrow">
              <a:avLst/>
            </a:prstGeom>
            <a:solidFill>
              <a:schemeClr val="accent1">
                <a:lumMod val="50000"/>
                <a:alpha val="93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Notched Right Arrow 25"/>
            <p:cNvSpPr/>
            <p:nvPr/>
          </p:nvSpPr>
          <p:spPr>
            <a:xfrm>
              <a:off x="336774" y="6206400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Notched Right Arrow 26"/>
            <p:cNvSpPr/>
            <p:nvPr/>
          </p:nvSpPr>
          <p:spPr>
            <a:xfrm>
              <a:off x="1542061" y="6206400"/>
              <a:ext cx="1296000" cy="469026"/>
            </a:xfrm>
            <a:prstGeom prst="notchedRightArrow">
              <a:avLst/>
            </a:prstGeom>
            <a:solidFill>
              <a:schemeClr val="accent1">
                <a:alpha val="93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Notched Right Arrow 27"/>
            <p:cNvSpPr/>
            <p:nvPr/>
          </p:nvSpPr>
          <p:spPr>
            <a:xfrm>
              <a:off x="2741566" y="6206400"/>
              <a:ext cx="1296000" cy="46902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Title 2"/>
          <p:cNvSpPr txBox="1">
            <a:spLocks/>
          </p:cNvSpPr>
          <p:nvPr/>
        </p:nvSpPr>
        <p:spPr>
          <a:xfrm>
            <a:off x="5255679" y="276642"/>
            <a:ext cx="3432536" cy="792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298511" y="6269051"/>
            <a:ext cx="8628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smtClean="0">
                <a:solidFill>
                  <a:srgbClr val="FFFFFF"/>
                </a:solidFill>
              </a:rPr>
              <a:t>          Overview                          Models                        Challenges	  Portfolio                         Migration                  	  </a:t>
            </a:r>
            <a:r>
              <a:rPr lang="en-US" sz="1200" b="1" dirty="0" smtClean="0">
                <a:solidFill>
                  <a:srgbClr val="FFFFFF"/>
                </a:solidFill>
              </a:rPr>
              <a:t>Conclusion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4203" y="2137722"/>
            <a:ext cx="84640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>
                <a:solidFill>
                  <a:schemeClr val="tx2"/>
                </a:solidFill>
              </a:rPr>
              <a:t>Cloud Computing can be perceived as a cost saving approach which provides various advantages over traditional computing, if handled in a secured way.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GB" dirty="0">
              <a:solidFill>
                <a:schemeClr val="tx2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>
                <a:solidFill>
                  <a:schemeClr val="tx2"/>
                </a:solidFill>
              </a:rPr>
              <a:t>The application </a:t>
            </a:r>
            <a:r>
              <a:rPr lang="en-GB" dirty="0">
                <a:solidFill>
                  <a:schemeClr val="tx2"/>
                </a:solidFill>
              </a:rPr>
              <a:t>p</a:t>
            </a:r>
            <a:r>
              <a:rPr lang="en-GB" dirty="0" smtClean="0">
                <a:solidFill>
                  <a:schemeClr val="tx2"/>
                </a:solidFill>
              </a:rPr>
              <a:t>ortfolio of </a:t>
            </a:r>
            <a:r>
              <a:rPr lang="en-GB" b="1" dirty="0" smtClean="0">
                <a:solidFill>
                  <a:schemeClr val="tx2"/>
                </a:solidFill>
              </a:rPr>
              <a:t>SwissTec</a:t>
            </a:r>
            <a:r>
              <a:rPr lang="en-GB" dirty="0" smtClean="0">
                <a:solidFill>
                  <a:schemeClr val="tx2"/>
                </a:solidFill>
              </a:rPr>
              <a:t> has been analysed based on the various criteria and each application has been assigned to an appropriate cloud model.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GB" dirty="0">
              <a:solidFill>
                <a:schemeClr val="tx2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>
                <a:solidFill>
                  <a:schemeClr val="tx2"/>
                </a:solidFill>
              </a:rPr>
              <a:t>In order to migrate in the most secured way to the cloud, we propose a 4-step approach, where the major security issues are outlined at each step and pertinent recommendations are made.</a:t>
            </a:r>
            <a:endParaRPr lang="en-GB" dirty="0">
              <a:solidFill>
                <a:schemeClr val="tx2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2120044" y="1535267"/>
            <a:ext cx="4628412" cy="462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7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116</TotalTime>
  <Words>926</Words>
  <Application>Microsoft Macintosh PowerPoint</Application>
  <PresentationFormat>On-screen Show (4:3)</PresentationFormat>
  <Paragraphs>396</Paragraphs>
  <Slides>24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Waveform</vt:lpstr>
      <vt:lpstr>Cloud Computing Security</vt:lpstr>
      <vt:lpstr>Motivation</vt:lpstr>
      <vt:lpstr>Cloud Computing</vt:lpstr>
      <vt:lpstr>Cloud Deployment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Migration to the Cloud</vt:lpstr>
      <vt:lpstr>Migration to the Cloud</vt:lpstr>
      <vt:lpstr>Migration to the Cloud</vt:lpstr>
      <vt:lpstr>Migration to the Cloud</vt:lpstr>
      <vt:lpstr>Migration to the Cloud</vt:lpstr>
      <vt:lpstr>Migration to the Cloud</vt:lpstr>
      <vt:lpstr>Migration to the Cloud</vt:lpstr>
      <vt:lpstr>Migration to the Cloud</vt:lpstr>
      <vt:lpstr>Migration to the Cloud</vt:lpstr>
      <vt:lpstr>PowerPoint Presentation</vt:lpstr>
    </vt:vector>
  </TitlesOfParts>
  <Company>ETH Zurich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Data Mining on Smartphones</dc:title>
  <dc:creator>Ajita Gupta</dc:creator>
  <cp:lastModifiedBy>Ajita Gupta</cp:lastModifiedBy>
  <cp:revision>1000</cp:revision>
  <dcterms:created xsi:type="dcterms:W3CDTF">2011-07-03T09:21:32Z</dcterms:created>
  <dcterms:modified xsi:type="dcterms:W3CDTF">2011-12-13T14:46:47Z</dcterms:modified>
</cp:coreProperties>
</file>